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3845c2f8cf4608" /><Relationship Type="http://schemas.openxmlformats.org/officeDocument/2006/relationships/extended-properties" Target="/docProps/app.xml" Id="R110a7cf4face47c4" /><Relationship Type="http://schemas.openxmlformats.org/officeDocument/2006/relationships/officeDocument" Target="/ppt/presentation.xml" Id="R7acc76d77f9740d4" /></Relationships>
</file>

<file path=ppt/presentation.xml><?xml version="1.0" encoding="utf-8"?>
<p:presentation xmlns:p="http://schemas.openxmlformats.org/presentationml/2006/main">
  <p:sldMasterIdLst>
    <p:sldMasterId xmlns:r="http://schemas.openxmlformats.org/officeDocument/2006/relationships" id="2147483648" r:id="R05546871e410435a"/>
  </p:sldMasterIdLst>
  <p:notesMasterIdLst>
    <p:notesMasterId xmlns:r="http://schemas.openxmlformats.org/officeDocument/2006/relationships" r:id="Rdf000791461347c7"/>
  </p:notesMasterIdLst>
  <p:sldIdLst>
    <p:sldId xmlns:r="http://schemas.openxmlformats.org/officeDocument/2006/relationships" id="256" r:id="Rb906b5c96c204b1a"/>
    <p:sldId xmlns:r="http://schemas.openxmlformats.org/officeDocument/2006/relationships" id="257" r:id="Re7516f678bce4703"/>
    <p:sldId xmlns:r="http://schemas.openxmlformats.org/officeDocument/2006/relationships" id="258" r:id="Rd14e3c9e9e014908"/>
    <p:sldId xmlns:r="http://schemas.openxmlformats.org/officeDocument/2006/relationships" id="259" r:id="Rc7b50c51af9b4e71"/>
    <p:sldId xmlns:r="http://schemas.openxmlformats.org/officeDocument/2006/relationships" id="260" r:id="R81ff8304e5964566"/>
    <p:sldId xmlns:r="http://schemas.openxmlformats.org/officeDocument/2006/relationships" id="261" r:id="R77ef473dbb8d4670"/>
    <p:sldId xmlns:r="http://schemas.openxmlformats.org/officeDocument/2006/relationships" id="262" r:id="R7b43cdd56bcc4d60"/>
    <p:sldId xmlns:r="http://schemas.openxmlformats.org/officeDocument/2006/relationships" id="263" r:id="R248de7f15ff2453d"/>
    <p:sldId xmlns:r="http://schemas.openxmlformats.org/officeDocument/2006/relationships" id="264" r:id="Rc2c51749b94845a4"/>
    <p:sldId xmlns:r="http://schemas.openxmlformats.org/officeDocument/2006/relationships" id="265" r:id="R141bbf5fc4b9483b"/>
    <p:sldId xmlns:r="http://schemas.openxmlformats.org/officeDocument/2006/relationships" id="266" r:id="R36e17abfabe54833"/>
    <p:sldId xmlns:r="http://schemas.openxmlformats.org/officeDocument/2006/relationships" id="267" r:id="R6d81289a73954655"/>
    <p:sldId xmlns:r="http://schemas.openxmlformats.org/officeDocument/2006/relationships" id="268" r:id="R1c4a03aca5c540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b095909db94403" /><Relationship Type="http://schemas.openxmlformats.org/officeDocument/2006/relationships/slideMaster" Target="/ppt/slideMasters/slideMaster1.xml" Id="R05546871e410435a" /><Relationship Type="http://schemas.openxmlformats.org/officeDocument/2006/relationships/notesMaster" Target="/ppt/notesMasters/notesMaster1.xml" Id="Rdf000791461347c7" /><Relationship Type="http://schemas.openxmlformats.org/officeDocument/2006/relationships/presProps" Target="/ppt/presProps.xml" Id="R3d387a4099824144" /><Relationship Type="http://schemas.openxmlformats.org/officeDocument/2006/relationships/tableStyles" Target="/ppt/tableStyles.xml" Id="Rb4b7918340b04128" /><Relationship Type="http://schemas.openxmlformats.org/officeDocument/2006/relationships/slide" Target="/ppt/slides/slide1.xml" Id="Rb906b5c96c204b1a" /><Relationship Type="http://schemas.openxmlformats.org/officeDocument/2006/relationships/slide" Target="/ppt/slides/slide2.xml" Id="Re7516f678bce4703" /><Relationship Type="http://schemas.openxmlformats.org/officeDocument/2006/relationships/slide" Target="/ppt/slides/slide3.xml" Id="Rd14e3c9e9e014908" /><Relationship Type="http://schemas.openxmlformats.org/officeDocument/2006/relationships/slide" Target="/ppt/slides/slide4.xml" Id="Rc7b50c51af9b4e71" /><Relationship Type="http://schemas.openxmlformats.org/officeDocument/2006/relationships/slide" Target="/ppt/slides/slide5.xml" Id="R81ff8304e5964566" /><Relationship Type="http://schemas.openxmlformats.org/officeDocument/2006/relationships/slide" Target="/ppt/slides/slide6.xml" Id="R77ef473dbb8d4670" /><Relationship Type="http://schemas.openxmlformats.org/officeDocument/2006/relationships/slide" Target="/ppt/slides/slide7.xml" Id="R7b43cdd56bcc4d60" /><Relationship Type="http://schemas.openxmlformats.org/officeDocument/2006/relationships/slide" Target="/ppt/slides/slide8.xml" Id="R248de7f15ff2453d" /><Relationship Type="http://schemas.openxmlformats.org/officeDocument/2006/relationships/slide" Target="/ppt/slides/slide9.xml" Id="Rc2c51749b94845a4" /><Relationship Type="http://schemas.openxmlformats.org/officeDocument/2006/relationships/slide" Target="/ppt/slides/slide10.xml" Id="R141bbf5fc4b9483b" /><Relationship Type="http://schemas.openxmlformats.org/officeDocument/2006/relationships/slide" Target="/ppt/slides/slide11.xml" Id="R36e17abfabe54833" /><Relationship Type="http://schemas.openxmlformats.org/officeDocument/2006/relationships/slide" Target="/ppt/slides/slide12.xml" Id="R6d81289a73954655" /><Relationship Type="http://schemas.openxmlformats.org/officeDocument/2006/relationships/slide" Target="/ppt/slides/slide13.xml" Id="R1c4a03aca5c540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01685f3c544c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62e1fc5fec47c2" /><Relationship Type="http://schemas.openxmlformats.org/officeDocument/2006/relationships/notesMaster" Target="/ppt/notesMasters/notesMaster1.xml" Id="R7cf2edcfc0fb4b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db3fd195274a4c" /><Relationship Type="http://schemas.openxmlformats.org/officeDocument/2006/relationships/notesMaster" Target="/ppt/notesMasters/notesMaster1.xml" Id="R8f50c41918994e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833bb9f09c4a28" /><Relationship Type="http://schemas.openxmlformats.org/officeDocument/2006/relationships/notesMaster" Target="/ppt/notesMasters/notesMaster1.xml" Id="Rc9d26a7058854f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04f48c907c4144" /><Relationship Type="http://schemas.openxmlformats.org/officeDocument/2006/relationships/notesMaster" Target="/ppt/notesMasters/notesMaster1.xml" Id="R5fcd85d4ba5b40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f120cfb93d4c04" /><Relationship Type="http://schemas.openxmlformats.org/officeDocument/2006/relationships/notesMaster" Target="/ppt/notesMasters/notesMaster1.xml" Id="R601a12837e8c47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03709a1db64a0b" /><Relationship Type="http://schemas.openxmlformats.org/officeDocument/2006/relationships/notesMaster" Target="/ppt/notesMasters/notesMaster1.xml" Id="Ref7546d4e06a44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699c41fdb24268" /><Relationship Type="http://schemas.openxmlformats.org/officeDocument/2006/relationships/notesMaster" Target="/ppt/notesMasters/notesMaster1.xml" Id="R4ccc73f15e8f4e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ff246ba65a4c60" /><Relationship Type="http://schemas.openxmlformats.org/officeDocument/2006/relationships/notesMaster" Target="/ppt/notesMasters/notesMaster1.xml" Id="Rae729d97082843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1b244de5ca4c4a" /><Relationship Type="http://schemas.openxmlformats.org/officeDocument/2006/relationships/notesMaster" Target="/ppt/notesMasters/notesMaster1.xml" Id="R3b10492143954d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f706cbd78b4e70" /><Relationship Type="http://schemas.openxmlformats.org/officeDocument/2006/relationships/notesMaster" Target="/ppt/notesMasters/notesMaster1.xml" Id="Raadd51c561f044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6ce9bf379f4aab" /><Relationship Type="http://schemas.openxmlformats.org/officeDocument/2006/relationships/notesMaster" Target="/ppt/notesMasters/notesMaster1.xml" Id="R671017f5494e4e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417dafbfe940b0" /><Relationship Type="http://schemas.openxmlformats.org/officeDocument/2006/relationships/notesMaster" Target="/ppt/notesMasters/notesMaster1.xml" Id="R721d56eef5ac43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897abaa5114a07" /><Relationship Type="http://schemas.openxmlformats.org/officeDocument/2006/relationships/notesMaster" Target="/ppt/notesMasters/notesMaster1.xml" Id="R64b475abb4764f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the project accurately: the shader traces null geodesics through a fixed Schwarzschild spacetime in real time. The ray bending is the scientific core; the accretion-disk appearance is intentionally illustrative.</a:t>
            </a:r>
          </a:p>
          <a:p xmlns:a="http://schemas.openxmlformats.org/drawingml/2006/main">
            <a:r>
              <a:t/>
            </a:r>
          </a:p>
          <a:p xmlns:a="http://schemas.openxmlformats.org/drawingml/2006/main">
            <a:r>
              <a:t>[Sources]</a:t>
            </a:r>
          </a:p>
          <a:p xmlns:a="http://schemas.openxmlformats.org/drawingml/2006/main">
            <a:r>
              <a:t>- Blackhole Simulation/README.md:1-29</a:t>
            </a:r>
          </a:p>
          <a:p xmlns:a="http://schemas.openxmlformats.org/drawingml/2006/main">
            <a:r>
              <a:t>- Blackhole Simulation/shaders/fragment.glsl:14-21,54-71</a:t>
            </a:r>
          </a:p>
          <a:p xmlns:a="http://schemas.openxmlformats.org/drawingml/2006/main">
            <a:r>
              <a:t>- /private/tmp/vac-blackhole-default.jpg (runtime capture from the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boundary matters. The project is scientifically meaningful without claiming to be a full numerical-relativity code. It computes test-particle light paths in a prescribed Schwarzschild geometry and layers a procedural emission model on top.</a:t>
            </a:r>
          </a:p>
          <a:p xmlns:a="http://schemas.openxmlformats.org/drawingml/2006/main">
            <a:r>
              <a:t/>
            </a:r>
          </a:p>
          <a:p xmlns:a="http://schemas.openxmlformats.org/drawingml/2006/main">
            <a:r>
              <a:t>[Sources]</a:t>
            </a:r>
          </a:p>
          <a:p xmlns:a="http://schemas.openxmlformats.org/drawingml/2006/main">
            <a:r>
              <a:t>- Blackhole Simulation/shaders/fragment.glsl:14-21,54-71,97-159</a:t>
            </a:r>
          </a:p>
          <a:p xmlns:a="http://schemas.openxmlformats.org/drawingml/2006/main">
            <a:r>
              <a:t>- Blackhole Simulation/js/main.js:177-212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A single full-screen triangle ensures every output pixel runs the same fragment program. The camera constructs a ray; the trace loop integrates it; discrete events add or terminate light; post-processing converts the accumulated linear color to the display image.</a:t>
            </a:r>
          </a:p>
          <a:p xmlns:a="http://schemas.openxmlformats.org/drawingml/2006/main">
            <a:r>
              <a:t/>
            </a:r>
          </a:p>
          <a:p xmlns:a="http://schemas.openxmlformats.org/drawingml/2006/main">
            <a:r>
              <a:t>[Sources]</a:t>
            </a:r>
          </a:p>
          <a:p xmlns:a="http://schemas.openxmlformats.org/drawingml/2006/main">
            <a:r>
              <a:t>- Blackhole Simulation/shaders/vertex.glsl:4-15</a:t>
            </a:r>
          </a:p>
          <a:p xmlns:a="http://schemas.openxmlformats.org/drawingml/2006/main">
            <a:r>
              <a:t>- Blackhole Simulation/shaders/fragment.glsl:73-95,97-188</a:t>
            </a:r>
          </a:p>
          <a:p xmlns:a="http://schemas.openxmlformats.org/drawingml/2006/main">
            <a:r>
              <a:t>- Blackhole Simulation/js/main.js:157-175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simulation normalizes the black-hole mass to M equals one. This makes the Schwarzschild radius 2M, the photon sphere 3M, and the non-rotating ISCO 6M. The 18M radius is a scene-design choice for the outer disk, not a universal physical boundary.</a:t>
            </a:r>
          </a:p>
          <a:p xmlns:a="http://schemas.openxmlformats.org/drawingml/2006/main">
            <a:r>
              <a:t/>
            </a:r>
          </a:p>
          <a:p xmlns:a="http://schemas.openxmlformats.org/drawingml/2006/main">
            <a:r>
              <a:t>[Sources]</a:t>
            </a:r>
          </a:p>
          <a:p xmlns:a="http://schemas.openxmlformats.org/drawingml/2006/main">
            <a:r>
              <a:t>- Blackhole Simulation/shaders/fragment.glsl:14-21,105-118,129-149</a:t>
            </a:r>
          </a:p>
          <a:p xmlns:a="http://schemas.openxmlformats.org/drawingml/2006/main">
            <a:r>
              <a:t>- Belbruno and Pretorius (2011): https://arxiv.org/abs/1103.0585</a:t>
            </a:r>
          </a:p>
          <a:p xmlns:a="http://schemas.openxmlformats.org/drawingml/2006/main">
            <a:r>
              <a:t>- Bardeen, Press, and Teukolsky (1972): https://doi.org/10.1086/151796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math claim can be checked directly. Belbruno and Pretorius give the same reduced spatial vector equation for Schwarzschild null geodesics. In the shader, the denominator r2 times r2 times r is r to the fifth power, and minus 1.5 times RS equals minus 3M.</a:t>
            </a:r>
          </a:p>
          <a:p xmlns:a="http://schemas.openxmlformats.org/drawingml/2006/main">
            <a:r>
              <a:t/>
            </a:r>
          </a:p>
          <a:p xmlns:a="http://schemas.openxmlformats.org/drawingml/2006/main">
            <a:r>
              <a:t>[Sources]</a:t>
            </a:r>
          </a:p>
          <a:p xmlns:a="http://schemas.openxmlformats.org/drawingml/2006/main">
            <a:r>
              <a:t>- Blackhole Simulation/shaders/fragment.glsl:14-18,54-62</a:t>
            </a:r>
          </a:p>
          <a:p xmlns:a="http://schemas.openxmlformats.org/drawingml/2006/main">
            <a:r>
              <a:t>- Belbruno and Pretorius (2011), equation 12: https://arxiv.org/abs/1103.0585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Explicit midpoint RK2 is a compact second-order integrator: it spends two acceleration evaluations per step and is practical in a fragment shader. The current implementation chooses step size from radius and caps the trace at 260 iterations; those are engineering choices, not physical constants.</a:t>
            </a:r>
          </a:p>
          <a:p xmlns:a="http://schemas.openxmlformats.org/drawingml/2006/main">
            <a:r>
              <a:t/>
            </a:r>
          </a:p>
          <a:p xmlns:a="http://schemas.openxmlformats.org/drawingml/2006/main">
            <a:r>
              <a:t>[Sources]</a:t>
            </a:r>
          </a:p>
          <a:p xmlns:a="http://schemas.openxmlformats.org/drawingml/2006/main">
            <a:r>
              <a:t>- Blackhole Simulation/shaders/fragment.glsl:20-21,64-71,105-127</a:t>
            </a:r>
          </a:p>
          <a:p xmlns:a="http://schemas.openxmlformats.org/drawingml/2006/main">
            <a:r>
              <a:t>- Hairer, Norsett, and Wanner, Solving Ordinary Differential Equations I: https://doi.org/10.1007/978-3-540-78862-1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branch conditions translate the continuous ray path into visible scene events. The word shadow is more accurate than event-horizon surface: the simulation never renders the horizon as material geometry. A ray may cross the thin disk more than once before capture or escape, producing direct and higher-order lensed images.</a:t>
            </a:r>
          </a:p>
          <a:p xmlns:a="http://schemas.openxmlformats.org/drawingml/2006/main">
            <a:r>
              <a:t/>
            </a:r>
          </a:p>
          <a:p xmlns:a="http://schemas.openxmlformats.org/drawingml/2006/main">
            <a:r>
              <a:t>[Sources]</a:t>
            </a:r>
          </a:p>
          <a:p xmlns:a="http://schemas.openxmlformats.org/drawingml/2006/main">
            <a:r>
              <a:t>- Blackhole Simulation/shaders/fragment.glsl:97-159</a:t>
            </a:r>
          </a:p>
          <a:p xmlns:a="http://schemas.openxmlformats.org/drawingml/2006/main">
            <a:r>
              <a:t>- Event Horizon Telescope, shadow explanation: https://eventhorizontelescope.org/press-release-april-10-2019-astronomers-capture-first-image-black-hole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runtime capture to connect the implementation to the visual result. Strong bending lets the observer see multiple images of a geometrically thin disk. The emission and opacity are procedural, so the image should be described as physically motivated rather than observationally calibrated.</a:t>
            </a:r>
          </a:p>
          <a:p xmlns:a="http://schemas.openxmlformats.org/drawingml/2006/main">
            <a:r>
              <a:t/>
            </a:r>
          </a:p>
          <a:p xmlns:a="http://schemas.openxmlformats.org/drawingml/2006/main">
            <a:r>
              <a:t>[Sources]</a:t>
            </a:r>
          </a:p>
          <a:p xmlns:a="http://schemas.openxmlformats.org/drawingml/2006/main">
            <a:r>
              <a:t>- Blackhole Simulation/shaders/fragment.glsl:39-52,129-149</a:t>
            </a:r>
          </a:p>
          <a:p xmlns:a="http://schemas.openxmlformats.org/drawingml/2006/main">
            <a:r>
              <a:t>- Cunningham (1975): https://doi.org/10.1086/154033</a:t>
            </a:r>
          </a:p>
          <a:p xmlns:a="http://schemas.openxmlformats.org/drawingml/2006/main">
            <a:r>
              <a:t>- /private/tmp/vac-blackhole-edge-on.jpg (runtime capture from the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is deliberately small. JavaScript owns browser integration and camera interaction. The vertex shader emits one full-screen triangle. The fragment shader owns both the ray integration and appearance model. This keeps the solver easy to inspect and lets the GPU process pixels in parallel.</a:t>
            </a:r>
          </a:p>
          <a:p xmlns:a="http://schemas.openxmlformats.org/drawingml/2006/main">
            <a:r>
              <a:t/>
            </a:r>
          </a:p>
          <a:p xmlns:a="http://schemas.openxmlformats.org/drawingml/2006/main">
            <a:r>
              <a:t>[Sources]</a:t>
            </a:r>
          </a:p>
          <a:p xmlns:a="http://schemas.openxmlformats.org/drawingml/2006/main">
            <a:r>
              <a:t>- Blackhole Simulation/js/main.js:34-89,91-175,177-223</a:t>
            </a:r>
          </a:p>
          <a:p xmlns:a="http://schemas.openxmlformats.org/drawingml/2006/main">
            <a:r>
              <a:t>- Blackhole Simulation/shaders/vertex.glsl:4-15</a:t>
            </a:r>
          </a:p>
          <a:p xmlns:a="http://schemas.openxmlformats.org/drawingml/2006/main">
            <a:r>
              <a:t>- Blackhole Simulation/shaders/fragment.glsl:73-188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interpretation slide. The path equation and landmark geometry have a defensible relativistic basis. The emission choices are visual storytelling. Missing Doppler asymmetry is especially noticeable in an accretion-disk image; adding orbital velocity and invariant intensity transport would be the strongest next fidelity improvement.</a:t>
            </a:r>
          </a:p>
          <a:p xmlns:a="http://schemas.openxmlformats.org/drawingml/2006/main">
            <a:r>
              <a:t/>
            </a:r>
          </a:p>
          <a:p xmlns:a="http://schemas.openxmlformats.org/drawingml/2006/main">
            <a:r>
              <a:t>[Sources]</a:t>
            </a:r>
          </a:p>
          <a:p xmlns:a="http://schemas.openxmlformats.org/drawingml/2006/main">
            <a:r>
              <a:t>- Blackhole Simulation/shaders/fragment.glsl:14-21,39-71,120-188</a:t>
            </a:r>
          </a:p>
          <a:p xmlns:a="http://schemas.openxmlformats.org/drawingml/2006/main">
            <a:r>
              <a:t>- Page and Thorne (1974): https://doi.org/10.1086/152990</a:t>
            </a:r>
          </a:p>
          <a:p xmlns:a="http://schemas.openxmlformats.org/drawingml/2006/main">
            <a:r>
              <a:t>- Cunningham (1975): https://doi.org/10.1086/154033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visual demo runs cleanly, but formal solver validation is not present in the repository. An exploratory read-only emulation of the exact shader loop found that budget exhaustion rises sharply at the 55M maximum camera distance. Treat that as a targeted audit signal, not as a universal screen-space error rate.</a:t>
            </a:r>
          </a:p>
          <a:p xmlns:a="http://schemas.openxmlformats.org/drawingml/2006/main">
            <a:r>
              <a:t/>
            </a:r>
          </a:p>
          <a:p xmlns:a="http://schemas.openxmlformats.org/drawingml/2006/main">
            <a:r>
              <a:t>[Sources]</a:t>
            </a:r>
          </a:p>
          <a:p xmlns:a="http://schemas.openxmlformats.org/drawingml/2006/main">
            <a:r>
              <a:t>- Blackhole Simulation/shaders/fragment.glsl:20-21,105-127,151-158</a:t>
            </a:r>
          </a:p>
          <a:p xmlns:a="http://schemas.openxmlformats.org/drawingml/2006/main">
            <a:r>
              <a:t>- Exploratory audit recorded in VAC_Schwarzschild_Simulation_Technical_Report.docx, section 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ordering protects what already works. First measure the current solver. Then make brightness physically interpretable, add the strongest missing disk asymmetry, and only then extend the spacetime to Kerr. Numerical relativity remains a separate class of system because it evolves the geometry itself.</a:t>
            </a:r>
          </a:p>
          <a:p xmlns:a="http://schemas.openxmlformats.org/drawingml/2006/main">
            <a:r>
              <a:t/>
            </a:r>
          </a:p>
          <a:p xmlns:a="http://schemas.openxmlformats.org/drawingml/2006/main">
            <a:r>
              <a:t>[Sources]</a:t>
            </a:r>
          </a:p>
          <a:p xmlns:a="http://schemas.openxmlformats.org/drawingml/2006/main">
            <a:r>
              <a:t>- Blackhole Simulation/shaders/fragment.glsl:54-188</a:t>
            </a:r>
          </a:p>
          <a:p xmlns:a="http://schemas.openxmlformats.org/drawingml/2006/main">
            <a:r>
              <a:t>- Bardeen, Press, and Teukolsky (1972): https://doi.org/10.1086/151796</a:t>
            </a:r>
          </a:p>
          <a:p xmlns:a="http://schemas.openxmlformats.org/drawingml/2006/main">
            <a:r>
              <a:t>- Page and Thorne (1974): https://doi.org/10.1086/152990</a:t>
            </a:r>
          </a:p>
          <a:p xmlns:a="http://schemas.openxmlformats.org/drawingml/2006/main">
            <a:r>
              <a:t>- Cunningham (1975): https://doi.org/10.1086/154033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project’s strength: a compact, inspectable implementation that turns a real Schwarzschild null-geodesic equation into an interactive visual. The documentation package preserves both the achievement and its limits.</a:t>
            </a:r>
          </a:p>
          <a:p xmlns:a="http://schemas.openxmlformats.org/drawingml/2006/main">
            <a:r>
              <a:t/>
            </a:r>
          </a:p>
          <a:p xmlns:a="http://schemas.openxmlformats.org/drawingml/2006/main">
            <a:r>
              <a:t>[Sources]</a:t>
            </a:r>
          </a:p>
          <a:p xmlns:a="http://schemas.openxmlformats.org/drawingml/2006/main">
            <a:r>
              <a:t>- Blackhole Simulation/README.md:1-29</a:t>
            </a:r>
          </a:p>
          <a:p xmlns:a="http://schemas.openxmlformats.org/drawingml/2006/main">
            <a:r>
              <a:t>- Blackhole Simulation/shaders/fragment.glsl:14-188</a:t>
            </a:r>
          </a:p>
          <a:p xmlns:a="http://schemas.openxmlformats.org/drawingml/2006/main">
            <a:r>
              <a:t>- Blackhole Simulation/js/main.js:157-223</a:t>
            </a:r>
          </a:p>
          <a:p xmlns:a="http://schemas.openxmlformats.org/drawingml/2006/main">
            <a:r>
              <a:t>- /private/tmp/vac-blackhole-high-inclination.jpg (runtime capture from the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a8ea3188d249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d959b96de94e34" /><Relationship Type="http://schemas.openxmlformats.org/officeDocument/2006/relationships/slideLayout" Target="/ppt/slideLayouts/slideLayout1.xml" Id="R4e0997661fe549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0997661fe549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c479caff2c4a8a" /><Relationship Type="http://schemas.openxmlformats.org/officeDocument/2006/relationships/image" Target="/ppt/media/image.jpeg" Id="R55d62ef3a95241be" /><Relationship Type="http://schemas.openxmlformats.org/officeDocument/2006/relationships/notesSlide" Target="/ppt/notesSlides/notesSlide1.xml" Id="R9764a00a61eb49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1c0dc14f6346e9" /><Relationship Type="http://schemas.openxmlformats.org/officeDocument/2006/relationships/notesSlide" Target="/ppt/notesSlides/notesSlide2.xml" Id="R1d1cfd317f8943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b3d391140f485d" /><Relationship Type="http://schemas.openxmlformats.org/officeDocument/2006/relationships/notesSlide" Target="/ppt/notesSlides/notesSlide3.xml" Id="R96384bdf91fe48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214075c6e54eaa" /><Relationship Type="http://schemas.openxmlformats.org/officeDocument/2006/relationships/notesSlide" Target="/ppt/notesSlides/notesSlide4.xml" Id="R0578132b412c43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a42a5e256b4923" /><Relationship Type="http://schemas.openxmlformats.org/officeDocument/2006/relationships/notesSlide" Target="/ppt/notesSlides/notesSlide5.xml" Id="R81cbb70d6c274f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6fc137b9d9483d" /><Relationship Type="http://schemas.openxmlformats.org/officeDocument/2006/relationships/notesSlide" Target="/ppt/notesSlides/notesSlide6.xml" Id="R4fbb58a709e046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2c3e21bb9249a7" /><Relationship Type="http://schemas.openxmlformats.org/officeDocument/2006/relationships/notesSlide" Target="/ppt/notesSlides/notesSlide7.xml" Id="Re38562c4b07846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12940018594ec9" /><Relationship Type="http://schemas.openxmlformats.org/officeDocument/2006/relationships/image" Target="/ppt/media/image2.jpeg" Id="Red405d1c58a34171" /><Relationship Type="http://schemas.openxmlformats.org/officeDocument/2006/relationships/notesSlide" Target="/ppt/notesSlides/notesSlide8.xml" Id="R3b47e3f3666c43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406b6808f040c3" /><Relationship Type="http://schemas.openxmlformats.org/officeDocument/2006/relationships/notesSlide" Target="/ppt/notesSlides/notesSlide9.xml" Id="Rd42455f2bf1346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f51c66fcad4210" /><Relationship Type="http://schemas.openxmlformats.org/officeDocument/2006/relationships/notesSlide" Target="/ppt/notesSlides/notesSlide10.xml" Id="R17f00176b06e47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30549e71e040f6" /><Relationship Type="http://schemas.openxmlformats.org/officeDocument/2006/relationships/notesSlide" Target="/ppt/notesSlides/notesSlide11.xml" Id="Rad27565af1354f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70f80b0d104ec0" /><Relationship Type="http://schemas.openxmlformats.org/officeDocument/2006/relationships/notesSlide" Target="/ppt/notesSlides/notesSlide12.xml" Id="R54e0c600159549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0de9132a5e4823" /><Relationship Type="http://schemas.openxmlformats.org/officeDocument/2006/relationships/image" Target="/ppt/media/image3.jpeg" Id="Rb28a84387a3d4f3f" /><Relationship Type="http://schemas.openxmlformats.org/officeDocument/2006/relationships/notesSlide" Target="/ppt/notesSlides/notesSlide13.xml" Id="Rb7b78eac08d94ba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5d62ef3a95241be"/>
          <a:srcRect xmlns:a="http://schemas.openxmlformats.org/drawingml/2006/main" l="0" t="0" r="0" b="0"/>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7D4DC4-6A9A-4249-BFD8-8742E8C1DA6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64AFDD-D9D6-456D-B402-CE7CBA38DF8B}"/>
              </a:ext>
            </a:extLst>
          </p:cNvPr>
          <p:cNvSpPr>
            <a:spLocks xmlns:a="http://schemas.openxmlformats.org/drawingml/2006/main" noGrp="1"/>
          </p:cNvSpPr>
          <p:nvPr/>
        </p:nvSpPr>
        <p:spPr>
          <a:xfrm xmlns:a="http://schemas.openxmlformats.org/drawingml/2006/main">
            <a:off x="514350" y="44767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96273"/>
                </a:solidFill>
                <a:latin typeface="Helvetica Neue"/>
                <a:ea typeface="Helvetica Neue"/>
                <a:cs typeface="Helvetica Neue"/>
              </a:defRPr>
            </a:pPr>
            <a:r>
              <a:rPr sz="1050" b="1" i="0">
                <a:solidFill>
                  <a:srgbClr val="596273"/>
                </a:solidFill>
                <a:latin typeface="Helvetica Neue"/>
                <a:ea typeface="Helvetica Neue"/>
                <a:cs typeface="Helvetica Neue"/>
              </a:rPr>
              <a:t>VAC PROJECT DOCUMENTATION</a:t>
            </a:r>
          </a:p>
        </p:txBody>
      </p:sp>
      <p:sp>
        <p:nvSpPr>
          <p:cNvPr id="4" name="">
            <a:extLst xmlns:a="http://schemas.openxmlformats.org/drawingml/2006/main">
              <a:ext uri="{FF2B5EF4-FFF2-40B4-BE49-F238E27FC236}">
                <a16:creationId xmlns:a16="http://schemas.microsoft.com/office/drawing/2014/main" id="{C32D2061-048F-4FF3-BF20-FBEAE964284F}"/>
              </a:ext>
            </a:extLst>
          </p:cNvPr>
          <p:cNvSpPr>
            <a:spLocks xmlns:a="http://schemas.openxmlformats.org/drawingml/2006/main" noGrp="1"/>
          </p:cNvSpPr>
          <p:nvPr/>
        </p:nvSpPr>
        <p:spPr>
          <a:xfrm xmlns:a="http://schemas.openxmlformats.org/drawingml/2006/main">
            <a:off x="514350" y="1485900"/>
            <a:ext cx="5334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i="0">
                <a:solidFill>
                  <a:srgbClr val="111827"/>
                </a:solidFill>
                <a:latin typeface="Helvetica Neue"/>
                <a:ea typeface="Helvetica Neue"/>
                <a:cs typeface="Helvetica Neue"/>
              </a:defRPr>
            </a:pPr>
            <a:r>
              <a:rPr sz="4125" b="1" i="0">
                <a:solidFill>
                  <a:srgbClr val="111827"/>
                </a:solidFill>
                <a:latin typeface="Helvetica Neue"/>
                <a:ea typeface="Helvetica Neue"/>
                <a:cs typeface="Helvetica Neue"/>
              </a:rPr>
              <a:t>A black hole,</a:t>
            </a:r>
          </a:p>
          <a:p xmlns:a="http://schemas.openxmlformats.org/drawingml/2006/main">
            <a:pPr algn="l">
              <a:defRPr sz="4125" b="1" i="0">
                <a:solidFill>
                  <a:srgbClr val="111827"/>
                </a:solidFill>
                <a:latin typeface="Helvetica Neue"/>
                <a:ea typeface="Helvetica Neue"/>
                <a:cs typeface="Helvetica Neue"/>
              </a:defRPr>
            </a:pPr>
            <a:r>
              <a:rPr sz="4125" b="1" i="0">
                <a:solidFill>
                  <a:srgbClr val="111827"/>
                </a:solidFill>
                <a:latin typeface="Helvetica Neue"/>
                <a:ea typeface="Helvetica Neue"/>
                <a:cs typeface="Helvetica Neue"/>
              </a:rPr>
              <a:t>traced one pixel</a:t>
            </a:r>
          </a:p>
          <a:p xmlns:a="http://schemas.openxmlformats.org/drawingml/2006/main">
            <a:pPr algn="l">
              <a:defRPr sz="4125" b="1" i="0">
                <a:solidFill>
                  <a:srgbClr val="111827"/>
                </a:solidFill>
                <a:latin typeface="Helvetica Neue"/>
                <a:ea typeface="Helvetica Neue"/>
                <a:cs typeface="Helvetica Neue"/>
              </a:defRPr>
            </a:pPr>
            <a:r>
              <a:rPr sz="4125" b="1" i="0">
                <a:solidFill>
                  <a:srgbClr val="111827"/>
                </a:solidFill>
                <a:latin typeface="Helvetica Neue"/>
                <a:ea typeface="Helvetica Neue"/>
                <a:cs typeface="Helvetica Neue"/>
              </a:rPr>
              <a:t>at a time</a:t>
            </a:r>
          </a:p>
        </p:txBody>
      </p:sp>
      <p:sp>
        <p:nvSpPr>
          <p:cNvPr id="5" name="">
            <a:extLst xmlns:a="http://schemas.openxmlformats.org/drawingml/2006/main">
              <a:ext uri="{FF2B5EF4-FFF2-40B4-BE49-F238E27FC236}">
                <a16:creationId xmlns:a16="http://schemas.microsoft.com/office/drawing/2014/main" id="{EB7EE8A1-BF55-4840-883F-5F6A337628AC}"/>
              </a:ext>
            </a:extLst>
          </p:cNvPr>
          <p:cNvSpPr>
            <a:spLocks xmlns:a="http://schemas.openxmlformats.org/drawingml/2006/main" noGrp="1"/>
          </p:cNvSpPr>
          <p:nvPr/>
        </p:nvSpPr>
        <p:spPr>
          <a:xfrm xmlns:a="http://schemas.openxmlformats.org/drawingml/2006/main">
            <a:off x="514350" y="42291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596273"/>
                </a:solidFill>
                <a:latin typeface="Helvetica Neue"/>
                <a:ea typeface="Helvetica Neue"/>
                <a:cs typeface="Helvetica Neue"/>
              </a:defRPr>
            </a:pPr>
            <a:r>
              <a:rPr sz="1725" b="0" i="0">
                <a:solidFill>
                  <a:srgbClr val="596273"/>
                </a:solidFill>
                <a:latin typeface="Helvetica Neue"/>
                <a:ea typeface="Helvetica Neue"/>
                <a:cs typeface="Helvetica Neue"/>
              </a:rPr>
              <a:t>How the WebGL2 Schwarzschild geodesic simulation works — from spacetime geometry to the final image.</a:t>
            </a:r>
          </a:p>
        </p:txBody>
      </p:sp>
      <p:sp>
        <p:nvSpPr>
          <p:cNvPr id="6" name="">
            <a:extLst xmlns:a="http://schemas.openxmlformats.org/drawingml/2006/main">
              <a:ext uri="{FF2B5EF4-FFF2-40B4-BE49-F238E27FC236}">
                <a16:creationId xmlns:a16="http://schemas.microsoft.com/office/drawing/2014/main" id="{B7CEDB3F-1308-4641-A1AB-79D2CDD88F2A}"/>
              </a:ext>
            </a:extLst>
          </p:cNvPr>
          <p:cNvSpPr>
            <a:spLocks xmlns:a="http://schemas.openxmlformats.org/drawingml/2006/main" noGrp="1"/>
          </p:cNvSpPr>
          <p:nvPr/>
        </p:nvSpPr>
        <p:spPr>
          <a:xfrm xmlns:a="http://schemas.openxmlformats.org/drawingml/2006/main">
            <a:off x="514350" y="5553075"/>
            <a:ext cx="3781425" cy="323850"/>
          </a:xfrm>
          <a:prstGeom xmlns:a="http://schemas.openxmlformats.org/drawingml/2006/main" prst="roundRect">
            <a:avLst>
              <a:gd name="adj" fmla="val 47059"/>
            </a:avLst>
          </a:prstGeom>
          <a:solidFill xmlns:a="http://schemas.openxmlformats.org/drawingml/2006/main">
            <a:srgbClr val="FAF4EA"/>
          </a:solidFill>
          <a:ln xmlns:a="http://schemas.openxmlformats.org/drawingml/2006/main" w="0">
            <a:noFill/>
            <a:prstDash val="solid"/>
          </a:ln>
        </p:spPr>
        <p:txBody>
          <a:bodyPr xmlns:a="http://schemas.openxmlformats.org/drawingml/2006/main" lIns="66675" tIns="28575" rIns="66675" bIns="28575" anchor="ctr">
            <a:normAutofit fontScale="100000"/>
          </a:bodyPr>
          <a:lstStyle xmlns:a="http://schemas.openxmlformats.org/drawingml/2006/main"/>
          <a:p xmlns:a="http://schemas.openxmlformats.org/drawingml/2006/main">
            <a:pPr algn="ctr">
              <a:defRPr sz="1050" b="1">
                <a:solidFill>
                  <a:srgbClr val="9A5E18"/>
                </a:solidFill>
                <a:latin typeface="Helvetica Neue"/>
                <a:ea typeface="Helvetica Neue"/>
                <a:cs typeface="Helvetica Neue"/>
              </a:defRPr>
            </a:pPr>
            <a:r>
              <a:rPr sz="1050" b="1">
                <a:solidFill>
                  <a:srgbClr val="9A5E18"/>
                </a:solidFill>
                <a:latin typeface="Helvetica Neue"/>
                <a:ea typeface="Helvetica Neue"/>
                <a:cs typeface="Helvetica Neue"/>
              </a:rPr>
              <a:t>PHYSICAL RAY PATHS · ILLUSTRATIVE EMISSION</a:t>
            </a:r>
          </a:p>
        </p:txBody>
      </p:sp>
      <p:sp>
        <p:nvSpPr>
          <p:cNvPr id="7" name="">
            <a:extLst xmlns:a="http://schemas.openxmlformats.org/drawingml/2006/main">
              <a:ext uri="{FF2B5EF4-FFF2-40B4-BE49-F238E27FC236}">
                <a16:creationId xmlns:a16="http://schemas.microsoft.com/office/drawing/2014/main" id="{A7C93B62-46F2-4842-B63B-3BBF06366F83}"/>
              </a:ext>
            </a:extLst>
          </p:cNvPr>
          <p:cNvSpPr>
            <a:spLocks xmlns:a="http://schemas.openxmlformats.org/drawingml/2006/main" noGrp="1"/>
          </p:cNvSpPr>
          <p:nvPr/>
        </p:nvSpPr>
        <p:spPr>
          <a:xfrm xmlns:a="http://schemas.openxmlformats.org/drawingml/2006/main">
            <a:off x="514350" y="61912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Code snapshot 6904ea0</a:t>
            </a:r>
          </a:p>
        </p:txBody>
      </p:sp>
    </p:spTree>
    <p:extLst>
      <p:ext uri="{BB962C8B-B14F-4D97-AF65-F5344CB8AC3E}">
        <p14:creationId xmlns:p14="http://schemas.microsoft.com/office/powerpoint/2010/main" val="4947847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BBEB1B-E1D7-49C7-80E9-C204C6F6ECE4}"/>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SCOPE</a:t>
            </a:r>
          </a:p>
        </p:txBody>
      </p:sp>
      <p:sp>
        <p:nvSpPr>
          <p:cNvPr id="2" name="">
            <a:extLst xmlns:a="http://schemas.openxmlformats.org/drawingml/2006/main">
              <a:ext uri="{FF2B5EF4-FFF2-40B4-BE49-F238E27FC236}">
                <a16:creationId xmlns:a16="http://schemas.microsoft.com/office/drawing/2014/main" id="{C6372006-FA5F-4871-94E9-4F183A41EB08}"/>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The project is a fixed-spacetime ray tracer</a:t>
            </a:r>
          </a:p>
        </p:txBody>
      </p:sp>
      <p:sp>
        <p:nvSpPr>
          <p:cNvPr id="3" name="">
            <a:extLst xmlns:a="http://schemas.openxmlformats.org/drawingml/2006/main">
              <a:ext uri="{FF2B5EF4-FFF2-40B4-BE49-F238E27FC236}">
                <a16:creationId xmlns:a16="http://schemas.microsoft.com/office/drawing/2014/main" id="{D1E98D57-C600-41A5-B222-81A792E913A3}"/>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4BEB78A-59FB-4576-9B40-7456641159FD}"/>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CF6C0C6-B931-4223-8991-FEE16C6F7743}"/>
              </a:ext>
            </a:extLst>
          </p:cNvPr>
          <p:cNvSpPr>
            <a:spLocks xmlns:a="http://schemas.openxmlformats.org/drawingml/2006/main" noGrp="1"/>
          </p:cNvSpPr>
          <p:nvPr/>
        </p:nvSpPr>
        <p:spPr>
          <a:xfrm xmlns:a="http://schemas.openxmlformats.org/drawingml/2006/main">
            <a:off x="400050" y="14954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96273"/>
                </a:solidFill>
                <a:latin typeface="Helvetica Neue"/>
                <a:ea typeface="Helvetica Neue"/>
                <a:cs typeface="Helvetica Neue"/>
              </a:defRPr>
            </a:pPr>
            <a:r>
              <a:rPr sz="1500" b="0" i="0">
                <a:solidFill>
                  <a:srgbClr val="596273"/>
                </a:solidFill>
                <a:latin typeface="Helvetica Neue"/>
                <a:ea typeface="Helvetica Neue"/>
                <a:cs typeface="Helvetica Neue"/>
              </a:rPr>
              <a:t>The camera asks a single question for every pixel:</a:t>
            </a:r>
          </a:p>
        </p:txBody>
      </p:sp>
      <p:sp>
        <p:nvSpPr>
          <p:cNvPr id="6" name="">
            <a:extLst xmlns:a="http://schemas.openxmlformats.org/drawingml/2006/main">
              <a:ext uri="{FF2B5EF4-FFF2-40B4-BE49-F238E27FC236}">
                <a16:creationId xmlns:a16="http://schemas.microsoft.com/office/drawing/2014/main" id="{45569D16-A9C0-491A-84DE-B970C418C36C}"/>
              </a:ext>
            </a:extLst>
          </p:cNvPr>
          <p:cNvSpPr>
            <a:spLocks xmlns:a="http://schemas.openxmlformats.org/drawingml/2006/main" noGrp="1"/>
          </p:cNvSpPr>
          <p:nvPr/>
        </p:nvSpPr>
        <p:spPr>
          <a:xfrm xmlns:a="http://schemas.openxmlformats.org/drawingml/2006/main">
            <a:off x="400050" y="200025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i="0">
                <a:solidFill>
                  <a:srgbClr val="111827"/>
                </a:solidFill>
                <a:latin typeface="Helvetica Neue"/>
                <a:ea typeface="Helvetica Neue"/>
                <a:cs typeface="Helvetica Neue"/>
              </a:defRPr>
            </a:pPr>
            <a:r>
              <a:rPr sz="2925" b="1" i="0">
                <a:solidFill>
                  <a:srgbClr val="111827"/>
                </a:solidFill>
                <a:latin typeface="Helvetica Neue"/>
                <a:ea typeface="Helvetica Neue"/>
                <a:cs typeface="Helvetica Neue"/>
              </a:rPr>
              <a:t>Where would this light ray go near a non-rotating black hole?</a:t>
            </a:r>
          </a:p>
        </p:txBody>
      </p:sp>
      <p:sp>
        <p:nvSpPr>
          <p:cNvPr id="7" name="">
            <a:extLst xmlns:a="http://schemas.openxmlformats.org/drawingml/2006/main">
              <a:ext uri="{FF2B5EF4-FFF2-40B4-BE49-F238E27FC236}">
                <a16:creationId xmlns:a16="http://schemas.microsoft.com/office/drawing/2014/main" id="{9BD0A06B-7645-4F45-B093-77666F8C497E}"/>
              </a:ext>
            </a:extLst>
          </p:cNvPr>
          <p:cNvSpPr>
            <a:spLocks xmlns:a="http://schemas.openxmlformats.org/drawingml/2006/main" noGrp="1"/>
          </p:cNvSpPr>
          <p:nvPr/>
        </p:nvSpPr>
        <p:spPr>
          <a:xfrm xmlns:a="http://schemas.openxmlformats.org/drawingml/2006/main">
            <a:off x="6076950" y="1562100"/>
            <a:ext cx="9525" cy="3905250"/>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FC46A9-2BA4-4CC7-983B-492973F9BDAC}"/>
              </a:ext>
            </a:extLst>
          </p:cNvPr>
          <p:cNvSpPr>
            <a:spLocks xmlns:a="http://schemas.openxmlformats.org/drawingml/2006/main" noGrp="1"/>
          </p:cNvSpPr>
          <p:nvPr/>
        </p:nvSpPr>
        <p:spPr>
          <a:xfrm xmlns:a="http://schemas.openxmlformats.org/drawingml/2006/main">
            <a:off x="6572250" y="15430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WHAT IT DOES</a:t>
            </a:r>
          </a:p>
        </p:txBody>
      </p:sp>
      <p:sp>
        <p:nvSpPr>
          <p:cNvPr id="9" name="">
            <a:extLst xmlns:a="http://schemas.openxmlformats.org/drawingml/2006/main">
              <a:ext uri="{FF2B5EF4-FFF2-40B4-BE49-F238E27FC236}">
                <a16:creationId xmlns:a16="http://schemas.microsoft.com/office/drawing/2014/main" id="{20ECFC86-D95F-48C6-9D5B-693DBBFF7BFC}"/>
              </a:ext>
            </a:extLst>
          </p:cNvPr>
          <p:cNvSpPr>
            <a:spLocks xmlns:a="http://schemas.openxmlformats.org/drawingml/2006/main" noGrp="1"/>
          </p:cNvSpPr>
          <p:nvPr/>
        </p:nvSpPr>
        <p:spPr>
          <a:xfrm xmlns:a="http://schemas.openxmlformats.org/drawingml/2006/main">
            <a:off x="6572250" y="1943100"/>
            <a:ext cx="457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18" indent="-10" algn="l">
              <a:buChar cha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Integrates null-geodesic paths</a:t>
            </a:r>
          </a:p>
          <a:p xmlns:a="http://schemas.openxmlformats.org/drawingml/2006/main">
            <a:pPr marL="18" indent="-10" algn="l">
              <a:buChar cha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Uses Schwarzschild landmark radii</a:t>
            </a:r>
          </a:p>
          <a:p xmlns:a="http://schemas.openxmlformats.org/drawingml/2006/main">
            <a:pPr marL="18" indent="-10" algn="l">
              <a:buChar cha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Shows capture, disk crossings, and escape</a:t>
            </a:r>
          </a:p>
          <a:p xmlns:a="http://schemas.openxmlformats.org/drawingml/2006/main">
            <a:pPr marL="18" indent="-10" algn="l">
              <a:buChar cha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Runs interactively in a WebGL2 fragment shader</a:t>
            </a:r>
          </a:p>
        </p:txBody>
      </p:sp>
      <p:sp>
        <p:nvSpPr>
          <p:cNvPr id="10" name="">
            <a:extLst xmlns:a="http://schemas.openxmlformats.org/drawingml/2006/main">
              <a:ext uri="{FF2B5EF4-FFF2-40B4-BE49-F238E27FC236}">
                <a16:creationId xmlns:a16="http://schemas.microsoft.com/office/drawing/2014/main" id="{41769F0E-8C2B-44E1-B17B-5EA20A90D94A}"/>
              </a:ext>
            </a:extLst>
          </p:cNvPr>
          <p:cNvSpPr>
            <a:spLocks xmlns:a="http://schemas.openxmlformats.org/drawingml/2006/main" noGrp="1"/>
          </p:cNvSpPr>
          <p:nvPr/>
        </p:nvSpPr>
        <p:spPr>
          <a:xfrm xmlns:a="http://schemas.openxmlformats.org/drawingml/2006/main">
            <a:off x="6572250" y="4038600"/>
            <a:ext cx="2190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WHAT IT DOES NOT DO</a:t>
            </a:r>
          </a:p>
        </p:txBody>
      </p:sp>
      <p:sp>
        <p:nvSpPr>
          <p:cNvPr id="11" name="">
            <a:extLst xmlns:a="http://schemas.openxmlformats.org/drawingml/2006/main">
              <a:ext uri="{FF2B5EF4-FFF2-40B4-BE49-F238E27FC236}">
                <a16:creationId xmlns:a16="http://schemas.microsoft.com/office/drawing/2014/main" id="{BC0FBB6D-E32A-428E-9A93-B3038715F5A8}"/>
              </a:ext>
            </a:extLst>
          </p:cNvPr>
          <p:cNvSpPr>
            <a:spLocks xmlns:a="http://schemas.openxmlformats.org/drawingml/2006/main" noGrp="1"/>
          </p:cNvSpPr>
          <p:nvPr/>
        </p:nvSpPr>
        <p:spPr>
          <a:xfrm xmlns:a="http://schemas.openxmlformats.org/drawingml/2006/main">
            <a:off x="6572250" y="4448175"/>
            <a:ext cx="44577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273"/>
                </a:solidFill>
                <a:latin typeface="Helvetica Neue"/>
                <a:ea typeface="Helvetica Neue"/>
                <a:cs typeface="Helvetica Neue"/>
              </a:defRPr>
            </a:pPr>
            <a:r>
              <a:rPr sz="1650" b="0" i="0">
                <a:solidFill>
                  <a:srgbClr val="596273"/>
                </a:solidFill>
                <a:latin typeface="Helvetica Neue"/>
                <a:ea typeface="Helvetica Neue"/>
                <a:cs typeface="Helvetica Neue"/>
              </a:rPr>
              <a:t>It does not evolve spacetime, solve Einstein’s field equations on a grid, or simulate accretion fluid dynamics.</a:t>
            </a:r>
          </a:p>
        </p:txBody>
      </p:sp>
      <p:sp>
        <p:nvSpPr>
          <p:cNvPr id="12" name="">
            <a:extLst xmlns:a="http://schemas.openxmlformats.org/drawingml/2006/main">
              <a:ext uri="{FF2B5EF4-FFF2-40B4-BE49-F238E27FC236}">
                <a16:creationId xmlns:a16="http://schemas.microsoft.com/office/drawing/2014/main" id="{D0F61211-02FB-4407-89D8-1CC42EE1EBDA}"/>
              </a:ext>
            </a:extLst>
          </p:cNvPr>
          <p:cNvSpPr>
            <a:spLocks xmlns:a="http://schemas.openxmlformats.org/drawingml/2006/main" noGrp="1"/>
          </p:cNvSpPr>
          <p:nvPr/>
        </p:nvSpPr>
        <p:spPr>
          <a:xfrm xmlns:a="http://schemas.openxmlformats.org/drawingml/2006/main">
            <a:off x="400050" y="5019675"/>
            <a:ext cx="2476500" cy="333375"/>
          </a:xfrm>
          <a:prstGeom xmlns:a="http://schemas.openxmlformats.org/drawingml/2006/main" prst="roundRect">
            <a:avLst>
              <a:gd name="adj" fmla="val 45714"/>
            </a:avLst>
          </a:prstGeom>
          <a:solidFill xmlns:a="http://schemas.openxmlformats.org/drawingml/2006/main">
            <a:srgbClr val="F2F3F5"/>
          </a:solidFill>
          <a:ln xmlns:a="http://schemas.openxmlformats.org/drawingml/2006/main" w="0">
            <a:noFill/>
            <a:prstDash val="solid"/>
          </a:ln>
        </p:spPr>
        <p:txBody>
          <a:bodyPr xmlns:a="http://schemas.openxmlformats.org/drawingml/2006/main" lIns="66675" tIns="28575" rIns="66675" bIns="28575" anchor="ctr">
            <a:normAutofit fontScale="100000"/>
          </a:bodyPr>
          <a:lstStyle xmlns:a="http://schemas.openxmlformats.org/drawingml/2006/main"/>
          <a:p xmlns:a="http://schemas.openxmlformats.org/drawingml/2006/main">
            <a:pPr algn="ctr">
              <a:defRPr sz="1050" b="1">
                <a:solidFill>
                  <a:srgbClr val="111827"/>
                </a:solidFill>
                <a:latin typeface="Helvetica Neue"/>
                <a:ea typeface="Helvetica Neue"/>
                <a:cs typeface="Helvetica Neue"/>
              </a:defRPr>
            </a:pPr>
            <a:r>
              <a:rPr sz="1050" b="1">
                <a:solidFill>
                  <a:srgbClr val="111827"/>
                </a:solidFill>
                <a:latin typeface="Helvetica Neue"/>
                <a:ea typeface="Helvetica Neue"/>
                <a:cs typeface="Helvetica Neue"/>
              </a:rPr>
              <a:t>NOT NUMERICAL RELATIVITY</a:t>
            </a:r>
          </a:p>
        </p:txBody>
      </p:sp>
    </p:spTree>
    <p:extLst>
      <p:ext uri="{BB962C8B-B14F-4D97-AF65-F5344CB8AC3E}">
        <p14:creationId xmlns:p14="http://schemas.microsoft.com/office/powerpoint/2010/main" val="8390621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ABB0812-FC94-4421-B3B1-6044060AF474}"/>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PIPELINE</a:t>
            </a:r>
          </a:p>
        </p:txBody>
      </p:sp>
      <p:sp>
        <p:nvSpPr>
          <p:cNvPr id="2" name="">
            <a:extLst xmlns:a="http://schemas.openxmlformats.org/drawingml/2006/main">
              <a:ext uri="{FF2B5EF4-FFF2-40B4-BE49-F238E27FC236}">
                <a16:creationId xmlns:a16="http://schemas.microsoft.com/office/drawing/2014/main" id="{DDFDFE58-1D3B-49FC-86B3-D5588DE8A25F}"/>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One pixel becomes one curved light path</a:t>
            </a:r>
          </a:p>
        </p:txBody>
      </p:sp>
      <p:sp>
        <p:nvSpPr>
          <p:cNvPr id="3" name="">
            <a:extLst xmlns:a="http://schemas.openxmlformats.org/drawingml/2006/main">
              <a:ext uri="{FF2B5EF4-FFF2-40B4-BE49-F238E27FC236}">
                <a16:creationId xmlns:a16="http://schemas.microsoft.com/office/drawing/2014/main" id="{23B0AA56-23E9-41D3-A534-3B146F0FF0EE}"/>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5CABB9B-3870-443B-BB22-0E8CD4DD42B2}"/>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B1E1A4-EC51-490A-AC7B-A5C61E2AB099}"/>
              </a:ext>
            </a:extLst>
          </p:cNvPr>
          <p:cNvSpPr>
            <a:spLocks xmlns:a="http://schemas.openxmlformats.org/drawingml/2006/main" noGrp="1"/>
          </p:cNvSpPr>
          <p:nvPr/>
        </p:nvSpPr>
        <p:spPr>
          <a:xfrm xmlns:a="http://schemas.openxmlformats.org/drawingml/2006/main">
            <a:off x="400050" y="18097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A5E18"/>
                </a:solidFill>
                <a:latin typeface="Helvetica Neue"/>
                <a:ea typeface="Helvetica Neue"/>
                <a:cs typeface="Helvetica Neue"/>
              </a:defRPr>
            </a:pPr>
            <a:r>
              <a:rPr sz="1350" b="1" i="0">
                <a:solidFill>
                  <a:srgbClr val="9A5E1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98B7104-52E6-48BB-8689-870B37468C2E}"/>
              </a:ext>
            </a:extLst>
          </p:cNvPr>
          <p:cNvSpPr>
            <a:spLocks xmlns:a="http://schemas.openxmlformats.org/drawingml/2006/main" noGrp="1"/>
          </p:cNvSpPr>
          <p:nvPr/>
        </p:nvSpPr>
        <p:spPr>
          <a:xfrm xmlns:a="http://schemas.openxmlformats.org/drawingml/2006/main">
            <a:off x="400050" y="2238375"/>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Pixel</a:t>
            </a:r>
          </a:p>
        </p:txBody>
      </p:sp>
      <p:sp>
        <p:nvSpPr>
          <p:cNvPr id="7" name="">
            <a:extLst xmlns:a="http://schemas.openxmlformats.org/drawingml/2006/main">
              <a:ext uri="{FF2B5EF4-FFF2-40B4-BE49-F238E27FC236}">
                <a16:creationId xmlns:a16="http://schemas.microsoft.com/office/drawing/2014/main" id="{C57A4DD7-09BA-49F1-B2DE-3A421B1F4BEC}"/>
              </a:ext>
            </a:extLst>
          </p:cNvPr>
          <p:cNvSpPr>
            <a:spLocks xmlns:a="http://schemas.openxmlformats.org/drawingml/2006/main" noGrp="1"/>
          </p:cNvSpPr>
          <p:nvPr/>
        </p:nvSpPr>
        <p:spPr>
          <a:xfrm xmlns:a="http://schemas.openxmlformats.org/drawingml/2006/main">
            <a:off x="400050" y="2876550"/>
            <a:ext cx="1809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The full-screen triangle invokes the fragment shader.</a:t>
            </a:r>
          </a:p>
        </p:txBody>
      </p:sp>
      <p:sp>
        <p:nvSpPr>
          <p:cNvPr id="8" name="">
            <a:extLst xmlns:a="http://schemas.openxmlformats.org/drawingml/2006/main">
              <a:ext uri="{FF2B5EF4-FFF2-40B4-BE49-F238E27FC236}">
                <a16:creationId xmlns:a16="http://schemas.microsoft.com/office/drawing/2014/main" id="{6889BC74-0766-4CCB-8F83-6792910C7F52}"/>
              </a:ext>
            </a:extLst>
          </p:cNvPr>
          <p:cNvSpPr>
            <a:spLocks xmlns:a="http://schemas.openxmlformats.org/drawingml/2006/main" noGrp="1"/>
          </p:cNvSpPr>
          <p:nvPr/>
        </p:nvSpPr>
        <p:spPr>
          <a:xfrm xmlns:a="http://schemas.openxmlformats.org/drawingml/2006/main">
            <a:off x="2076450" y="2028825"/>
            <a:ext cx="4000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0D5498-6E07-40BB-BDFD-BD8AA69D9754}"/>
              </a:ext>
            </a:extLst>
          </p:cNvPr>
          <p:cNvSpPr>
            <a:spLocks xmlns:a="http://schemas.openxmlformats.org/drawingml/2006/main" noGrp="1"/>
          </p:cNvSpPr>
          <p:nvPr/>
        </p:nvSpPr>
        <p:spPr>
          <a:xfrm xmlns:a="http://schemas.openxmlformats.org/drawingml/2006/main" rot="5400000">
            <a:off x="2457450" y="19526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C8A9CF-49E6-456E-A8E6-B1EBC98F0EDA}"/>
              </a:ext>
            </a:extLst>
          </p:cNvPr>
          <p:cNvSpPr>
            <a:spLocks xmlns:a="http://schemas.openxmlformats.org/drawingml/2006/main" noGrp="1"/>
          </p:cNvSpPr>
          <p:nvPr/>
        </p:nvSpPr>
        <p:spPr>
          <a:xfrm xmlns:a="http://schemas.openxmlformats.org/drawingml/2006/main">
            <a:off x="2676525" y="18097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A5E18"/>
                </a:solidFill>
                <a:latin typeface="Helvetica Neue"/>
                <a:ea typeface="Helvetica Neue"/>
                <a:cs typeface="Helvetica Neue"/>
              </a:defRPr>
            </a:pPr>
            <a:r>
              <a:rPr sz="1350" b="1" i="0">
                <a:solidFill>
                  <a:srgbClr val="9A5E18"/>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69A4CDE-A99E-42E4-BB7C-27F6A1485EE8}"/>
              </a:ext>
            </a:extLst>
          </p:cNvPr>
          <p:cNvSpPr>
            <a:spLocks xmlns:a="http://schemas.openxmlformats.org/drawingml/2006/main" noGrp="1"/>
          </p:cNvSpPr>
          <p:nvPr/>
        </p:nvSpPr>
        <p:spPr>
          <a:xfrm xmlns:a="http://schemas.openxmlformats.org/drawingml/2006/main">
            <a:off x="2676525" y="2238375"/>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Camera ray</a:t>
            </a:r>
          </a:p>
        </p:txBody>
      </p:sp>
      <p:sp>
        <p:nvSpPr>
          <p:cNvPr id="12" name="">
            <a:extLst xmlns:a="http://schemas.openxmlformats.org/drawingml/2006/main">
              <a:ext uri="{FF2B5EF4-FFF2-40B4-BE49-F238E27FC236}">
                <a16:creationId xmlns:a16="http://schemas.microsoft.com/office/drawing/2014/main" id="{157A42B9-3D8B-47A4-A37F-4103B57986D8}"/>
              </a:ext>
            </a:extLst>
          </p:cNvPr>
          <p:cNvSpPr>
            <a:spLocks xmlns:a="http://schemas.openxmlformats.org/drawingml/2006/main" noGrp="1"/>
          </p:cNvSpPr>
          <p:nvPr/>
        </p:nvSpPr>
        <p:spPr>
          <a:xfrm xmlns:a="http://schemas.openxmlformats.org/drawingml/2006/main">
            <a:off x="2676525" y="2876550"/>
            <a:ext cx="1809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A finite-distance camera basis maps UV to origin + direction.</a:t>
            </a:r>
          </a:p>
        </p:txBody>
      </p:sp>
      <p:sp>
        <p:nvSpPr>
          <p:cNvPr id="13" name="">
            <a:extLst xmlns:a="http://schemas.openxmlformats.org/drawingml/2006/main">
              <a:ext uri="{FF2B5EF4-FFF2-40B4-BE49-F238E27FC236}">
                <a16:creationId xmlns:a16="http://schemas.microsoft.com/office/drawing/2014/main" id="{992DDCED-F107-482A-B9FE-D1510ACB2BBE}"/>
              </a:ext>
            </a:extLst>
          </p:cNvPr>
          <p:cNvSpPr>
            <a:spLocks xmlns:a="http://schemas.openxmlformats.org/drawingml/2006/main" noGrp="1"/>
          </p:cNvSpPr>
          <p:nvPr/>
        </p:nvSpPr>
        <p:spPr>
          <a:xfrm xmlns:a="http://schemas.openxmlformats.org/drawingml/2006/main">
            <a:off x="4352925" y="2028825"/>
            <a:ext cx="4000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6CE5A0-7C39-49FE-AFBD-A9A5BDF308A9}"/>
              </a:ext>
            </a:extLst>
          </p:cNvPr>
          <p:cNvSpPr>
            <a:spLocks xmlns:a="http://schemas.openxmlformats.org/drawingml/2006/main" noGrp="1"/>
          </p:cNvSpPr>
          <p:nvPr/>
        </p:nvSpPr>
        <p:spPr>
          <a:xfrm xmlns:a="http://schemas.openxmlformats.org/drawingml/2006/main" rot="5400000">
            <a:off x="4733925" y="19526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A655CD0-B0D1-4CB5-AE33-89FA0B5D8AD3}"/>
              </a:ext>
            </a:extLst>
          </p:cNvPr>
          <p:cNvSpPr>
            <a:spLocks xmlns:a="http://schemas.openxmlformats.org/drawingml/2006/main" noGrp="1"/>
          </p:cNvSpPr>
          <p:nvPr/>
        </p:nvSpPr>
        <p:spPr>
          <a:xfrm xmlns:a="http://schemas.openxmlformats.org/drawingml/2006/main">
            <a:off x="4953000" y="18097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A5E18"/>
                </a:solidFill>
                <a:latin typeface="Helvetica Neue"/>
                <a:ea typeface="Helvetica Neue"/>
                <a:cs typeface="Helvetica Neue"/>
              </a:defRPr>
            </a:pPr>
            <a:r>
              <a:rPr sz="1350" b="1" i="0">
                <a:solidFill>
                  <a:srgbClr val="9A5E18"/>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BEA17618-351B-44D0-918F-19B378AC4EC2}"/>
              </a:ext>
            </a:extLst>
          </p:cNvPr>
          <p:cNvSpPr>
            <a:spLocks xmlns:a="http://schemas.openxmlformats.org/drawingml/2006/main" noGrp="1"/>
          </p:cNvSpPr>
          <p:nvPr/>
        </p:nvSpPr>
        <p:spPr>
          <a:xfrm xmlns:a="http://schemas.openxmlformats.org/drawingml/2006/main">
            <a:off x="4953000" y="2238375"/>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RK2 trace</a:t>
            </a:r>
          </a:p>
        </p:txBody>
      </p:sp>
      <p:sp>
        <p:nvSpPr>
          <p:cNvPr id="17" name="">
            <a:extLst xmlns:a="http://schemas.openxmlformats.org/drawingml/2006/main">
              <a:ext uri="{FF2B5EF4-FFF2-40B4-BE49-F238E27FC236}">
                <a16:creationId xmlns:a16="http://schemas.microsoft.com/office/drawing/2014/main" id="{7B1DD400-21CD-45D1-BA53-EE92BC4551E8}"/>
              </a:ext>
            </a:extLst>
          </p:cNvPr>
          <p:cNvSpPr>
            <a:spLocks xmlns:a="http://schemas.openxmlformats.org/drawingml/2006/main" noGrp="1"/>
          </p:cNvSpPr>
          <p:nvPr/>
        </p:nvSpPr>
        <p:spPr>
          <a:xfrm xmlns:a="http://schemas.openxmlformats.org/drawingml/2006/main">
            <a:off x="4953000" y="2876550"/>
            <a:ext cx="1809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The shader advances position and direction through curvature.</a:t>
            </a:r>
          </a:p>
        </p:txBody>
      </p:sp>
      <p:sp>
        <p:nvSpPr>
          <p:cNvPr id="18" name="">
            <a:extLst xmlns:a="http://schemas.openxmlformats.org/drawingml/2006/main">
              <a:ext uri="{FF2B5EF4-FFF2-40B4-BE49-F238E27FC236}">
                <a16:creationId xmlns:a16="http://schemas.microsoft.com/office/drawing/2014/main" id="{E7B7AF5B-5BEF-41FD-91D7-FD23E2B1002A}"/>
              </a:ext>
            </a:extLst>
          </p:cNvPr>
          <p:cNvSpPr>
            <a:spLocks xmlns:a="http://schemas.openxmlformats.org/drawingml/2006/main" noGrp="1"/>
          </p:cNvSpPr>
          <p:nvPr/>
        </p:nvSpPr>
        <p:spPr>
          <a:xfrm xmlns:a="http://schemas.openxmlformats.org/drawingml/2006/main">
            <a:off x="6629400" y="2028825"/>
            <a:ext cx="4000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F16E3E6-8CE5-4553-B535-488FDFB81C16}"/>
              </a:ext>
            </a:extLst>
          </p:cNvPr>
          <p:cNvSpPr>
            <a:spLocks xmlns:a="http://schemas.openxmlformats.org/drawingml/2006/main" noGrp="1"/>
          </p:cNvSpPr>
          <p:nvPr/>
        </p:nvSpPr>
        <p:spPr>
          <a:xfrm xmlns:a="http://schemas.openxmlformats.org/drawingml/2006/main" rot="5400000">
            <a:off x="7010400" y="19526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0A1571A-3899-4A4F-8741-E261872C5599}"/>
              </a:ext>
            </a:extLst>
          </p:cNvPr>
          <p:cNvSpPr>
            <a:spLocks xmlns:a="http://schemas.openxmlformats.org/drawingml/2006/main" noGrp="1"/>
          </p:cNvSpPr>
          <p:nvPr/>
        </p:nvSpPr>
        <p:spPr>
          <a:xfrm xmlns:a="http://schemas.openxmlformats.org/drawingml/2006/main">
            <a:off x="7229475" y="18097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A5E18"/>
                </a:solidFill>
                <a:latin typeface="Helvetica Neue"/>
                <a:ea typeface="Helvetica Neue"/>
                <a:cs typeface="Helvetica Neue"/>
              </a:defRPr>
            </a:pPr>
            <a:r>
              <a:rPr sz="1350" b="1" i="0">
                <a:solidFill>
                  <a:srgbClr val="9A5E18"/>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F26B6544-73FF-4A7F-952D-1BACC62EB3A3}"/>
              </a:ext>
            </a:extLst>
          </p:cNvPr>
          <p:cNvSpPr>
            <a:spLocks xmlns:a="http://schemas.openxmlformats.org/drawingml/2006/main" noGrp="1"/>
          </p:cNvSpPr>
          <p:nvPr/>
        </p:nvSpPr>
        <p:spPr>
          <a:xfrm xmlns:a="http://schemas.openxmlformats.org/drawingml/2006/main">
            <a:off x="7229475" y="2238375"/>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Scene event</a:t>
            </a:r>
          </a:p>
        </p:txBody>
      </p:sp>
      <p:sp>
        <p:nvSpPr>
          <p:cNvPr id="22" name="">
            <a:extLst xmlns:a="http://schemas.openxmlformats.org/drawingml/2006/main">
              <a:ext uri="{FF2B5EF4-FFF2-40B4-BE49-F238E27FC236}">
                <a16:creationId xmlns:a16="http://schemas.microsoft.com/office/drawing/2014/main" id="{82DC8BFF-618B-4648-B90A-4C60710B4487}"/>
              </a:ext>
            </a:extLst>
          </p:cNvPr>
          <p:cNvSpPr>
            <a:spLocks xmlns:a="http://schemas.openxmlformats.org/drawingml/2006/main" noGrp="1"/>
          </p:cNvSpPr>
          <p:nvPr/>
        </p:nvSpPr>
        <p:spPr>
          <a:xfrm xmlns:a="http://schemas.openxmlformats.org/drawingml/2006/main">
            <a:off x="7229475" y="2876550"/>
            <a:ext cx="1809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A ray is captured, crosses the disk, or escapes to stars.</a:t>
            </a:r>
          </a:p>
        </p:txBody>
      </p:sp>
      <p:sp>
        <p:nvSpPr>
          <p:cNvPr id="23" name="">
            <a:extLst xmlns:a="http://schemas.openxmlformats.org/drawingml/2006/main">
              <a:ext uri="{FF2B5EF4-FFF2-40B4-BE49-F238E27FC236}">
                <a16:creationId xmlns:a16="http://schemas.microsoft.com/office/drawing/2014/main" id="{4D1C5237-A23A-4CF9-88F5-5C460172CAA1}"/>
              </a:ext>
            </a:extLst>
          </p:cNvPr>
          <p:cNvSpPr>
            <a:spLocks xmlns:a="http://schemas.openxmlformats.org/drawingml/2006/main" noGrp="1"/>
          </p:cNvSpPr>
          <p:nvPr/>
        </p:nvSpPr>
        <p:spPr>
          <a:xfrm xmlns:a="http://schemas.openxmlformats.org/drawingml/2006/main">
            <a:off x="8905875" y="2028825"/>
            <a:ext cx="4000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A42BA33-21D2-4FCB-9A71-252833E50F41}"/>
              </a:ext>
            </a:extLst>
          </p:cNvPr>
          <p:cNvSpPr>
            <a:spLocks xmlns:a="http://schemas.openxmlformats.org/drawingml/2006/main" noGrp="1"/>
          </p:cNvSpPr>
          <p:nvPr/>
        </p:nvSpPr>
        <p:spPr>
          <a:xfrm xmlns:a="http://schemas.openxmlformats.org/drawingml/2006/main" rot="5400000">
            <a:off x="9286875" y="19526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336138-0734-4574-A1CB-5A07E11AB494}"/>
              </a:ext>
            </a:extLst>
          </p:cNvPr>
          <p:cNvSpPr>
            <a:spLocks xmlns:a="http://schemas.openxmlformats.org/drawingml/2006/main" noGrp="1"/>
          </p:cNvSpPr>
          <p:nvPr/>
        </p:nvSpPr>
        <p:spPr>
          <a:xfrm xmlns:a="http://schemas.openxmlformats.org/drawingml/2006/main">
            <a:off x="9505950" y="180975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A5E18"/>
                </a:solidFill>
                <a:latin typeface="Helvetica Neue"/>
                <a:ea typeface="Helvetica Neue"/>
                <a:cs typeface="Helvetica Neue"/>
              </a:defRPr>
            </a:pPr>
            <a:r>
              <a:rPr sz="1350" b="1" i="0">
                <a:solidFill>
                  <a:srgbClr val="9A5E18"/>
                </a:solidFill>
                <a:latin typeface="Helvetica Neue"/>
                <a:ea typeface="Helvetica Neue"/>
                <a:cs typeface="Helvetica Neue"/>
              </a:rPr>
              <a:t>05</a:t>
            </a:r>
          </a:p>
        </p:txBody>
      </p:sp>
      <p:sp>
        <p:nvSpPr>
          <p:cNvPr id="26" name="">
            <a:extLst xmlns:a="http://schemas.openxmlformats.org/drawingml/2006/main">
              <a:ext uri="{FF2B5EF4-FFF2-40B4-BE49-F238E27FC236}">
                <a16:creationId xmlns:a16="http://schemas.microsoft.com/office/drawing/2014/main" id="{7D8552AD-4693-41D6-8D3C-A5567FB30E60}"/>
              </a:ext>
            </a:extLst>
          </p:cNvPr>
          <p:cNvSpPr>
            <a:spLocks xmlns:a="http://schemas.openxmlformats.org/drawingml/2006/main" noGrp="1"/>
          </p:cNvSpPr>
          <p:nvPr/>
        </p:nvSpPr>
        <p:spPr>
          <a:xfrm xmlns:a="http://schemas.openxmlformats.org/drawingml/2006/main">
            <a:off x="9505950" y="2238375"/>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Final color</a:t>
            </a:r>
          </a:p>
        </p:txBody>
      </p:sp>
      <p:sp>
        <p:nvSpPr>
          <p:cNvPr id="27" name="">
            <a:extLst xmlns:a="http://schemas.openxmlformats.org/drawingml/2006/main">
              <a:ext uri="{FF2B5EF4-FFF2-40B4-BE49-F238E27FC236}">
                <a16:creationId xmlns:a16="http://schemas.microsoft.com/office/drawing/2014/main" id="{723EE07F-2383-4778-9CA3-8F7FD2637AA9}"/>
              </a:ext>
            </a:extLst>
          </p:cNvPr>
          <p:cNvSpPr>
            <a:spLocks xmlns:a="http://schemas.openxmlformats.org/drawingml/2006/main" noGrp="1"/>
          </p:cNvSpPr>
          <p:nvPr/>
        </p:nvSpPr>
        <p:spPr>
          <a:xfrm xmlns:a="http://schemas.openxmlformats.org/drawingml/2006/main">
            <a:off x="9505950" y="2876550"/>
            <a:ext cx="1809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Emission, tone mapping, gamma, and vignette produce the pixel.</a:t>
            </a:r>
          </a:p>
        </p:txBody>
      </p:sp>
      <p:sp>
        <p:nvSpPr>
          <p:cNvPr id="28" name="">
            <a:extLst xmlns:a="http://schemas.openxmlformats.org/drawingml/2006/main">
              <a:ext uri="{FF2B5EF4-FFF2-40B4-BE49-F238E27FC236}">
                <a16:creationId xmlns:a16="http://schemas.microsoft.com/office/drawing/2014/main" id="{F9C6532E-2D7A-4966-AA68-7BAB5BA9B409}"/>
              </a:ext>
            </a:extLst>
          </p:cNvPr>
          <p:cNvSpPr>
            <a:spLocks xmlns:a="http://schemas.openxmlformats.org/drawingml/2006/main" noGrp="1"/>
          </p:cNvSpPr>
          <p:nvPr/>
        </p:nvSpPr>
        <p:spPr>
          <a:xfrm xmlns:a="http://schemas.openxmlformats.org/drawingml/2006/main">
            <a:off x="400050" y="4648200"/>
            <a:ext cx="113919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F0D5867-950F-47FF-8DC3-EDA6F539F669}"/>
              </a:ext>
            </a:extLst>
          </p:cNvPr>
          <p:cNvSpPr>
            <a:spLocks xmlns:a="http://schemas.openxmlformats.org/drawingml/2006/main" noGrp="1"/>
          </p:cNvSpPr>
          <p:nvPr/>
        </p:nvSpPr>
        <p:spPr>
          <a:xfrm xmlns:a="http://schemas.openxmlformats.org/drawingml/2006/main">
            <a:off x="400050" y="49053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111827"/>
                </a:solidFill>
                <a:latin typeface="Helvetica Neue"/>
                <a:ea typeface="Helvetica Neue"/>
                <a:cs typeface="Helvetica Neue"/>
              </a:defRPr>
            </a:pPr>
            <a:r>
              <a:rPr sz="2175" b="1" i="0">
                <a:solidFill>
                  <a:srgbClr val="111827"/>
                </a:solidFill>
                <a:latin typeface="Helvetica Neue"/>
                <a:ea typeface="Helvetica Neue"/>
                <a:cs typeface="Helvetica Neue"/>
              </a:rPr>
              <a:t>The scene is generated procedurally — there is no mesh model of the black hole or disk.</a:t>
            </a:r>
          </a:p>
        </p:txBody>
      </p:sp>
    </p:spTree>
    <p:extLst>
      <p:ext uri="{BB962C8B-B14F-4D97-AF65-F5344CB8AC3E}">
        <p14:creationId xmlns:p14="http://schemas.microsoft.com/office/powerpoint/2010/main" val="10603594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8BBBC97-4622-4176-92B1-009123977DF1}"/>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GEOMETRY</a:t>
            </a:r>
          </a:p>
        </p:txBody>
      </p:sp>
      <p:sp>
        <p:nvSpPr>
          <p:cNvPr id="2" name="">
            <a:extLst xmlns:a="http://schemas.openxmlformats.org/drawingml/2006/main">
              <a:ext uri="{FF2B5EF4-FFF2-40B4-BE49-F238E27FC236}">
                <a16:creationId xmlns:a16="http://schemas.microsoft.com/office/drawing/2014/main" id="{D716C57D-4D66-4B54-A240-80AA20CE9522}"/>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Four radii organize the simulated scene</a:t>
            </a:r>
          </a:p>
        </p:txBody>
      </p:sp>
      <p:sp>
        <p:nvSpPr>
          <p:cNvPr id="3" name="">
            <a:extLst xmlns:a="http://schemas.openxmlformats.org/drawingml/2006/main">
              <a:ext uri="{FF2B5EF4-FFF2-40B4-BE49-F238E27FC236}">
                <a16:creationId xmlns:a16="http://schemas.microsoft.com/office/drawing/2014/main" id="{0A44E767-101F-4E3E-AFAA-F64405C332EA}"/>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31CE609B-6233-4AE7-8EB9-A051FCD507B4}"/>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2665CA-C7D9-40DB-8E5D-476A1C7FCB3B}"/>
              </a:ext>
            </a:extLst>
          </p:cNvPr>
          <p:cNvSpPr>
            <a:spLocks xmlns:a="http://schemas.openxmlformats.org/drawingml/2006/main" noGrp="1"/>
          </p:cNvSpPr>
          <p:nvPr/>
        </p:nvSpPr>
        <p:spPr>
          <a:xfrm xmlns:a="http://schemas.openxmlformats.org/drawingml/2006/main">
            <a:off x="1019175" y="1504950"/>
            <a:ext cx="4095750" cy="4095750"/>
          </a:xfrm>
          <a:prstGeom xmlns:a="http://schemas.openxmlformats.org/drawingml/2006/main" prst="ellipse">
            <a:avLst/>
          </a:prstGeom>
          <a:noFill xmlns:a="http://schemas.openxmlformats.org/drawingml/2006/main"/>
          <a:ln xmlns:a="http://schemas.openxmlformats.org/drawingml/2006/main" w="19050">
            <a:solidFill>
              <a:srgbClr val="D7DBE2"/>
            </a:solidFill>
            <a:prstDash val="solid"/>
          </a:ln>
        </p:spPr>
      </p:sp>
      <p:sp>
        <p:nvSpPr>
          <p:cNvPr id="6" name="">
            <a:extLst xmlns:a="http://schemas.openxmlformats.org/drawingml/2006/main">
              <a:ext uri="{FF2B5EF4-FFF2-40B4-BE49-F238E27FC236}">
                <a16:creationId xmlns:a16="http://schemas.microsoft.com/office/drawing/2014/main" id="{2F43CDC2-927F-4144-82CC-D2838B47A8EB}"/>
              </a:ext>
            </a:extLst>
          </p:cNvPr>
          <p:cNvSpPr>
            <a:spLocks xmlns:a="http://schemas.openxmlformats.org/drawingml/2006/main" noGrp="1"/>
          </p:cNvSpPr>
          <p:nvPr/>
        </p:nvSpPr>
        <p:spPr>
          <a:xfrm xmlns:a="http://schemas.openxmlformats.org/drawingml/2006/main">
            <a:off x="1685925" y="2171700"/>
            <a:ext cx="2762250" cy="2762250"/>
          </a:xfrm>
          <a:prstGeom xmlns:a="http://schemas.openxmlformats.org/drawingml/2006/main" prst="ellipse">
            <a:avLst/>
          </a:prstGeom>
          <a:noFill xmlns:a="http://schemas.openxmlformats.org/drawingml/2006/main"/>
          <a:ln xmlns:a="http://schemas.openxmlformats.org/drawingml/2006/main" w="38100">
            <a:solidFill>
              <a:srgbClr val="E0A45A"/>
            </a:solidFill>
            <a:prstDash val="solid"/>
          </a:ln>
        </p:spPr>
      </p:sp>
      <p:sp>
        <p:nvSpPr>
          <p:cNvPr id="7" name="">
            <a:extLst xmlns:a="http://schemas.openxmlformats.org/drawingml/2006/main">
              <a:ext uri="{FF2B5EF4-FFF2-40B4-BE49-F238E27FC236}">
                <a16:creationId xmlns:a16="http://schemas.microsoft.com/office/drawing/2014/main" id="{89311B26-B414-45AF-9D8C-76385CD1E463}"/>
              </a:ext>
            </a:extLst>
          </p:cNvPr>
          <p:cNvSpPr>
            <a:spLocks xmlns:a="http://schemas.openxmlformats.org/drawingml/2006/main" noGrp="1"/>
          </p:cNvSpPr>
          <p:nvPr/>
        </p:nvSpPr>
        <p:spPr>
          <a:xfrm xmlns:a="http://schemas.openxmlformats.org/drawingml/2006/main">
            <a:off x="2376488" y="2862263"/>
            <a:ext cx="1381125" cy="1381125"/>
          </a:xfrm>
          <a:prstGeom xmlns:a="http://schemas.openxmlformats.org/drawingml/2006/main" prst="ellipse">
            <a:avLst/>
          </a:prstGeom>
          <a:noFill xmlns:a="http://schemas.openxmlformats.org/drawingml/2006/main"/>
          <a:ln xmlns:a="http://schemas.openxmlformats.org/drawingml/2006/main" w="28575">
            <a:solidFill>
              <a:srgbClr val="596273"/>
            </a:solidFill>
            <a:prstDash val="solid"/>
          </a:ln>
        </p:spPr>
      </p:sp>
      <p:sp>
        <p:nvSpPr>
          <p:cNvPr id="8" name="">
            <a:extLst xmlns:a="http://schemas.openxmlformats.org/drawingml/2006/main">
              <a:ext uri="{FF2B5EF4-FFF2-40B4-BE49-F238E27FC236}">
                <a16:creationId xmlns:a16="http://schemas.microsoft.com/office/drawing/2014/main" id="{0D62A971-1A0D-4BBA-87B0-BFADDCDCC058}"/>
              </a:ext>
            </a:extLst>
          </p:cNvPr>
          <p:cNvSpPr>
            <a:spLocks xmlns:a="http://schemas.openxmlformats.org/drawingml/2006/main" noGrp="1"/>
          </p:cNvSpPr>
          <p:nvPr/>
        </p:nvSpPr>
        <p:spPr>
          <a:xfrm xmlns:a="http://schemas.openxmlformats.org/drawingml/2006/main">
            <a:off x="2609850" y="3095625"/>
            <a:ext cx="914400" cy="914400"/>
          </a:xfrm>
          <a:prstGeom xmlns:a="http://schemas.openxmlformats.org/drawingml/2006/main" prst="ellipse">
            <a:avLst/>
          </a:prstGeom>
          <a:noFill xmlns:a="http://schemas.openxmlformats.org/drawingml/2006/main"/>
          <a:ln xmlns:a="http://schemas.openxmlformats.org/drawingml/2006/main" w="57150">
            <a:solidFill>
              <a:srgbClr val="111827"/>
            </a:solidFill>
            <a:prstDash val="solid"/>
          </a:ln>
        </p:spPr>
      </p:sp>
      <p:sp>
        <p:nvSpPr>
          <p:cNvPr id="9" name="">
            <a:extLst xmlns:a="http://schemas.openxmlformats.org/drawingml/2006/main">
              <a:ext uri="{FF2B5EF4-FFF2-40B4-BE49-F238E27FC236}">
                <a16:creationId xmlns:a16="http://schemas.microsoft.com/office/drawing/2014/main" id="{B8EFAABA-0A0E-4774-BD58-A61A5D14ADDA}"/>
              </a:ext>
            </a:extLst>
          </p:cNvPr>
          <p:cNvSpPr>
            <a:spLocks xmlns:a="http://schemas.openxmlformats.org/drawingml/2006/main" noGrp="1"/>
          </p:cNvSpPr>
          <p:nvPr/>
        </p:nvSpPr>
        <p:spPr>
          <a:xfrm xmlns:a="http://schemas.openxmlformats.org/drawingml/2006/main">
            <a:off x="2647950" y="3133725"/>
            <a:ext cx="838200" cy="8382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B23533-E36F-4DE0-B706-19ED668D9C41}"/>
              </a:ext>
            </a:extLst>
          </p:cNvPr>
          <p:cNvSpPr>
            <a:spLocks xmlns:a="http://schemas.openxmlformats.org/drawingml/2006/main" noGrp="1"/>
          </p:cNvSpPr>
          <p:nvPr/>
        </p:nvSpPr>
        <p:spPr>
          <a:xfrm xmlns:a="http://schemas.openxmlformats.org/drawingml/2006/main">
            <a:off x="2619375" y="3381375"/>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2M</a:t>
            </a:r>
          </a:p>
        </p:txBody>
      </p:sp>
      <p:sp>
        <p:nvSpPr>
          <p:cNvPr id="11" name="">
            <a:extLst xmlns:a="http://schemas.openxmlformats.org/drawingml/2006/main">
              <a:ext uri="{FF2B5EF4-FFF2-40B4-BE49-F238E27FC236}">
                <a16:creationId xmlns:a16="http://schemas.microsoft.com/office/drawing/2014/main" id="{4725C5C4-E8AE-4020-8961-D6900E035A47}"/>
              </a:ext>
            </a:extLst>
          </p:cNvPr>
          <p:cNvSpPr>
            <a:spLocks xmlns:a="http://schemas.openxmlformats.org/drawingml/2006/main" noGrp="1"/>
          </p:cNvSpPr>
          <p:nvPr/>
        </p:nvSpPr>
        <p:spPr>
          <a:xfrm xmlns:a="http://schemas.openxmlformats.org/drawingml/2006/main">
            <a:off x="6096000" y="15716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A5E18"/>
                </a:solidFill>
                <a:latin typeface="Helvetica Neue"/>
                <a:ea typeface="Helvetica Neue"/>
                <a:cs typeface="Helvetica Neue"/>
              </a:defRPr>
            </a:pPr>
            <a:r>
              <a:rPr sz="2100" b="1" i="0">
                <a:solidFill>
                  <a:srgbClr val="9A5E18"/>
                </a:solidFill>
                <a:latin typeface="Helvetica Neue"/>
                <a:ea typeface="Helvetica Neue"/>
                <a:cs typeface="Helvetica Neue"/>
              </a:rPr>
              <a:t>2M</a:t>
            </a:r>
          </a:p>
        </p:txBody>
      </p:sp>
      <p:sp>
        <p:nvSpPr>
          <p:cNvPr id="12" name="">
            <a:extLst xmlns:a="http://schemas.openxmlformats.org/drawingml/2006/main">
              <a:ext uri="{FF2B5EF4-FFF2-40B4-BE49-F238E27FC236}">
                <a16:creationId xmlns:a16="http://schemas.microsoft.com/office/drawing/2014/main" id="{4344C2FF-4A35-48A9-82E6-DF2CD3E05F07}"/>
              </a:ext>
            </a:extLst>
          </p:cNvPr>
          <p:cNvSpPr>
            <a:spLocks xmlns:a="http://schemas.openxmlformats.org/drawingml/2006/main" noGrp="1"/>
          </p:cNvSpPr>
          <p:nvPr/>
        </p:nvSpPr>
        <p:spPr>
          <a:xfrm xmlns:a="http://schemas.openxmlformats.org/drawingml/2006/main">
            <a:off x="6934200" y="15716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Event-horizon radius</a:t>
            </a:r>
          </a:p>
        </p:txBody>
      </p:sp>
      <p:sp>
        <p:nvSpPr>
          <p:cNvPr id="13" name="">
            <a:extLst xmlns:a="http://schemas.openxmlformats.org/drawingml/2006/main">
              <a:ext uri="{FF2B5EF4-FFF2-40B4-BE49-F238E27FC236}">
                <a16:creationId xmlns:a16="http://schemas.microsoft.com/office/drawing/2014/main" id="{E390BDB2-FB1A-40F1-9E95-1BF4234FDFCD}"/>
              </a:ext>
            </a:extLst>
          </p:cNvPr>
          <p:cNvSpPr>
            <a:spLocks xmlns:a="http://schemas.openxmlformats.org/drawingml/2006/main" noGrp="1"/>
          </p:cNvSpPr>
          <p:nvPr/>
        </p:nvSpPr>
        <p:spPr>
          <a:xfrm xmlns:a="http://schemas.openxmlformats.org/drawingml/2006/main">
            <a:off x="6934200" y="1952625"/>
            <a:ext cx="438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Rays crossing the 2.04M guard are terminated as captured.</a:t>
            </a:r>
          </a:p>
        </p:txBody>
      </p:sp>
      <p:sp>
        <p:nvSpPr>
          <p:cNvPr id="14" name="">
            <a:extLst xmlns:a="http://schemas.openxmlformats.org/drawingml/2006/main">
              <a:ext uri="{FF2B5EF4-FFF2-40B4-BE49-F238E27FC236}">
                <a16:creationId xmlns:a16="http://schemas.microsoft.com/office/drawing/2014/main" id="{B8C39613-AF52-48CA-A444-BEE07236330A}"/>
              </a:ext>
            </a:extLst>
          </p:cNvPr>
          <p:cNvSpPr>
            <a:spLocks xmlns:a="http://schemas.openxmlformats.org/drawingml/2006/main" noGrp="1"/>
          </p:cNvSpPr>
          <p:nvPr/>
        </p:nvSpPr>
        <p:spPr>
          <a:xfrm xmlns:a="http://schemas.openxmlformats.org/drawingml/2006/main">
            <a:off x="6096000" y="26384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A5E18"/>
                </a:solidFill>
                <a:latin typeface="Helvetica Neue"/>
                <a:ea typeface="Helvetica Neue"/>
                <a:cs typeface="Helvetica Neue"/>
              </a:defRPr>
            </a:pPr>
            <a:r>
              <a:rPr sz="2100" b="1" i="0">
                <a:solidFill>
                  <a:srgbClr val="9A5E18"/>
                </a:solidFill>
                <a:latin typeface="Helvetica Neue"/>
                <a:ea typeface="Helvetica Neue"/>
                <a:cs typeface="Helvetica Neue"/>
              </a:rPr>
              <a:t>3M</a:t>
            </a:r>
          </a:p>
        </p:txBody>
      </p:sp>
      <p:sp>
        <p:nvSpPr>
          <p:cNvPr id="15" name="">
            <a:extLst xmlns:a="http://schemas.openxmlformats.org/drawingml/2006/main">
              <a:ext uri="{FF2B5EF4-FFF2-40B4-BE49-F238E27FC236}">
                <a16:creationId xmlns:a16="http://schemas.microsoft.com/office/drawing/2014/main" id="{75A27918-73A5-4668-B9E4-20E7F2125F59}"/>
              </a:ext>
            </a:extLst>
          </p:cNvPr>
          <p:cNvSpPr>
            <a:spLocks xmlns:a="http://schemas.openxmlformats.org/drawingml/2006/main" noGrp="1"/>
          </p:cNvSpPr>
          <p:nvPr/>
        </p:nvSpPr>
        <p:spPr>
          <a:xfrm xmlns:a="http://schemas.openxmlformats.org/drawingml/2006/main">
            <a:off x="6934200" y="26384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Photon sphere</a:t>
            </a:r>
          </a:p>
        </p:txBody>
      </p:sp>
      <p:sp>
        <p:nvSpPr>
          <p:cNvPr id="16" name="">
            <a:extLst xmlns:a="http://schemas.openxmlformats.org/drawingml/2006/main">
              <a:ext uri="{FF2B5EF4-FFF2-40B4-BE49-F238E27FC236}">
                <a16:creationId xmlns:a16="http://schemas.microsoft.com/office/drawing/2014/main" id="{C5CE8E26-48B8-4D95-8C4A-8D409A962FD4}"/>
              </a:ext>
            </a:extLst>
          </p:cNvPr>
          <p:cNvSpPr>
            <a:spLocks xmlns:a="http://schemas.openxmlformats.org/drawingml/2006/main" noGrp="1"/>
          </p:cNvSpPr>
          <p:nvPr/>
        </p:nvSpPr>
        <p:spPr>
          <a:xfrm xmlns:a="http://schemas.openxmlformats.org/drawingml/2006/main">
            <a:off x="6934200" y="3019425"/>
            <a:ext cx="438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The unstable circular light orbit organizes the strongest bending.</a:t>
            </a:r>
          </a:p>
        </p:txBody>
      </p:sp>
      <p:sp>
        <p:nvSpPr>
          <p:cNvPr id="17" name="">
            <a:extLst xmlns:a="http://schemas.openxmlformats.org/drawingml/2006/main">
              <a:ext uri="{FF2B5EF4-FFF2-40B4-BE49-F238E27FC236}">
                <a16:creationId xmlns:a16="http://schemas.microsoft.com/office/drawing/2014/main" id="{86A16B71-9743-48AC-9926-713434A39C3C}"/>
              </a:ext>
            </a:extLst>
          </p:cNvPr>
          <p:cNvSpPr>
            <a:spLocks xmlns:a="http://schemas.openxmlformats.org/drawingml/2006/main" noGrp="1"/>
          </p:cNvSpPr>
          <p:nvPr/>
        </p:nvSpPr>
        <p:spPr>
          <a:xfrm xmlns:a="http://schemas.openxmlformats.org/drawingml/2006/main">
            <a:off x="6096000" y="37052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A5E18"/>
                </a:solidFill>
                <a:latin typeface="Helvetica Neue"/>
                <a:ea typeface="Helvetica Neue"/>
                <a:cs typeface="Helvetica Neue"/>
              </a:defRPr>
            </a:pPr>
            <a:r>
              <a:rPr sz="2100" b="1" i="0">
                <a:solidFill>
                  <a:srgbClr val="9A5E18"/>
                </a:solidFill>
                <a:latin typeface="Helvetica Neue"/>
                <a:ea typeface="Helvetica Neue"/>
                <a:cs typeface="Helvetica Neue"/>
              </a:rPr>
              <a:t>6M</a:t>
            </a:r>
          </a:p>
        </p:txBody>
      </p:sp>
      <p:sp>
        <p:nvSpPr>
          <p:cNvPr id="18" name="">
            <a:extLst xmlns:a="http://schemas.openxmlformats.org/drawingml/2006/main">
              <a:ext uri="{FF2B5EF4-FFF2-40B4-BE49-F238E27FC236}">
                <a16:creationId xmlns:a16="http://schemas.microsoft.com/office/drawing/2014/main" id="{2ABDEFBF-C42D-4A46-A39B-696F33CCC90E}"/>
              </a:ext>
            </a:extLst>
          </p:cNvPr>
          <p:cNvSpPr>
            <a:spLocks xmlns:a="http://schemas.openxmlformats.org/drawingml/2006/main" noGrp="1"/>
          </p:cNvSpPr>
          <p:nvPr/>
        </p:nvSpPr>
        <p:spPr>
          <a:xfrm xmlns:a="http://schemas.openxmlformats.org/drawingml/2006/main">
            <a:off x="6934200" y="37052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Disk inner edge / ISCO</a:t>
            </a:r>
          </a:p>
        </p:txBody>
      </p:sp>
      <p:sp>
        <p:nvSpPr>
          <p:cNvPr id="19" name="">
            <a:extLst xmlns:a="http://schemas.openxmlformats.org/drawingml/2006/main">
              <a:ext uri="{FF2B5EF4-FFF2-40B4-BE49-F238E27FC236}">
                <a16:creationId xmlns:a16="http://schemas.microsoft.com/office/drawing/2014/main" id="{7FB03BC8-8CDB-4CE8-98A7-C36C9C696B43}"/>
              </a:ext>
            </a:extLst>
          </p:cNvPr>
          <p:cNvSpPr>
            <a:spLocks xmlns:a="http://schemas.openxmlformats.org/drawingml/2006/main" noGrp="1"/>
          </p:cNvSpPr>
          <p:nvPr/>
        </p:nvSpPr>
        <p:spPr>
          <a:xfrm xmlns:a="http://schemas.openxmlformats.org/drawingml/2006/main">
            <a:off x="6934200" y="4086225"/>
            <a:ext cx="438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The illustrative thin disk begins at the Schwarzschild ISCO.</a:t>
            </a:r>
          </a:p>
        </p:txBody>
      </p:sp>
      <p:sp>
        <p:nvSpPr>
          <p:cNvPr id="20" name="">
            <a:extLst xmlns:a="http://schemas.openxmlformats.org/drawingml/2006/main">
              <a:ext uri="{FF2B5EF4-FFF2-40B4-BE49-F238E27FC236}">
                <a16:creationId xmlns:a16="http://schemas.microsoft.com/office/drawing/2014/main" id="{E4FBD8D4-2D3C-45F2-B8DC-D0FD837F9AFD}"/>
              </a:ext>
            </a:extLst>
          </p:cNvPr>
          <p:cNvSpPr>
            <a:spLocks xmlns:a="http://schemas.openxmlformats.org/drawingml/2006/main" noGrp="1"/>
          </p:cNvSpPr>
          <p:nvPr/>
        </p:nvSpPr>
        <p:spPr>
          <a:xfrm xmlns:a="http://schemas.openxmlformats.org/drawingml/2006/main">
            <a:off x="6096000" y="47720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A5E18"/>
                </a:solidFill>
                <a:latin typeface="Helvetica Neue"/>
                <a:ea typeface="Helvetica Neue"/>
                <a:cs typeface="Helvetica Neue"/>
              </a:defRPr>
            </a:pPr>
            <a:r>
              <a:rPr sz="2100" b="1" i="0">
                <a:solidFill>
                  <a:srgbClr val="9A5E18"/>
                </a:solidFill>
                <a:latin typeface="Helvetica Neue"/>
                <a:ea typeface="Helvetica Neue"/>
                <a:cs typeface="Helvetica Neue"/>
              </a:rPr>
              <a:t>18M</a:t>
            </a:r>
          </a:p>
        </p:txBody>
      </p:sp>
      <p:sp>
        <p:nvSpPr>
          <p:cNvPr id="21" name="">
            <a:extLst xmlns:a="http://schemas.openxmlformats.org/drawingml/2006/main">
              <a:ext uri="{FF2B5EF4-FFF2-40B4-BE49-F238E27FC236}">
                <a16:creationId xmlns:a16="http://schemas.microsoft.com/office/drawing/2014/main" id="{387B7510-BF76-44D7-AF76-9C4C3E4BCAC4}"/>
              </a:ext>
            </a:extLst>
          </p:cNvPr>
          <p:cNvSpPr>
            <a:spLocks xmlns:a="http://schemas.openxmlformats.org/drawingml/2006/main" noGrp="1"/>
          </p:cNvSpPr>
          <p:nvPr/>
        </p:nvSpPr>
        <p:spPr>
          <a:xfrm xmlns:a="http://schemas.openxmlformats.org/drawingml/2006/main">
            <a:off x="6934200" y="47720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Disk outer edge</a:t>
            </a:r>
          </a:p>
        </p:txBody>
      </p:sp>
      <p:sp>
        <p:nvSpPr>
          <p:cNvPr id="22" name="">
            <a:extLst xmlns:a="http://schemas.openxmlformats.org/drawingml/2006/main">
              <a:ext uri="{FF2B5EF4-FFF2-40B4-BE49-F238E27FC236}">
                <a16:creationId xmlns:a16="http://schemas.microsoft.com/office/drawing/2014/main" id="{4BF17182-14B8-4392-B1D4-225F1586077C}"/>
              </a:ext>
            </a:extLst>
          </p:cNvPr>
          <p:cNvSpPr>
            <a:spLocks xmlns:a="http://schemas.openxmlformats.org/drawingml/2006/main" noGrp="1"/>
          </p:cNvSpPr>
          <p:nvPr/>
        </p:nvSpPr>
        <p:spPr>
          <a:xfrm xmlns:a="http://schemas.openxmlformats.org/drawingml/2006/main">
            <a:off x="6934200" y="5153025"/>
            <a:ext cx="438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The modeled emission annulus ends here.</a:t>
            </a:r>
          </a:p>
        </p:txBody>
      </p:sp>
      <p:sp>
        <p:nvSpPr>
          <p:cNvPr id="23" name="">
            <a:extLst xmlns:a="http://schemas.openxmlformats.org/drawingml/2006/main">
              <a:ext uri="{FF2B5EF4-FFF2-40B4-BE49-F238E27FC236}">
                <a16:creationId xmlns:a16="http://schemas.microsoft.com/office/drawing/2014/main" id="{6965F97E-F7CF-4406-B33A-718411706CA7}"/>
              </a:ext>
            </a:extLst>
          </p:cNvPr>
          <p:cNvSpPr>
            <a:spLocks xmlns:a="http://schemas.openxmlformats.org/drawingml/2006/main" noGrp="1"/>
          </p:cNvSpPr>
          <p:nvPr/>
        </p:nvSpPr>
        <p:spPr>
          <a:xfrm xmlns:a="http://schemas.openxmlformats.org/drawingml/2006/main">
            <a:off x="1143000" y="5791200"/>
            <a:ext cx="3857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96273"/>
                </a:solidFill>
                <a:latin typeface="Helvetica Neue"/>
                <a:ea typeface="Helvetica Neue"/>
                <a:cs typeface="Helvetica Neue"/>
              </a:defRPr>
            </a:pPr>
            <a:r>
              <a:rPr sz="1200" b="0" i="0">
                <a:solidFill>
                  <a:srgbClr val="596273"/>
                </a:solidFill>
                <a:latin typeface="Helvetica Neue"/>
                <a:ea typeface="Helvetica Neue"/>
                <a:cs typeface="Helvetica Neue"/>
              </a:rPr>
              <a:t>Geometric units: M = 1 · schematic, not to scale</a:t>
            </a:r>
          </a:p>
        </p:txBody>
      </p:sp>
    </p:spTree>
    <p:extLst>
      <p:ext uri="{BB962C8B-B14F-4D97-AF65-F5344CB8AC3E}">
        <p14:creationId xmlns:p14="http://schemas.microsoft.com/office/powerpoint/2010/main" val="21379604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52D3A78-02EB-4DE9-A657-3B543B305EEB}"/>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MATH → CODE</a:t>
            </a:r>
          </a:p>
        </p:txBody>
      </p:sp>
      <p:sp>
        <p:nvSpPr>
          <p:cNvPr id="2" name="">
            <a:extLst xmlns:a="http://schemas.openxmlformats.org/drawingml/2006/main">
              <a:ext uri="{FF2B5EF4-FFF2-40B4-BE49-F238E27FC236}">
                <a16:creationId xmlns:a16="http://schemas.microsoft.com/office/drawing/2014/main" id="{5D58B26B-2D88-4D09-8B45-EE8F162BA1A4}"/>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The shader encodes Schwarzschild light bending</a:t>
            </a:r>
          </a:p>
        </p:txBody>
      </p:sp>
      <p:sp>
        <p:nvSpPr>
          <p:cNvPr id="3" name="">
            <a:extLst xmlns:a="http://schemas.openxmlformats.org/drawingml/2006/main">
              <a:ext uri="{FF2B5EF4-FFF2-40B4-BE49-F238E27FC236}">
                <a16:creationId xmlns:a16="http://schemas.microsoft.com/office/drawing/2014/main" id="{CBCC204E-8C09-4B6D-BB7F-A19F0D1E47A8}"/>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17604CC-2C30-4632-8E07-91300AB48DAB}"/>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93507B-F3DE-4721-ACE7-9915354452CB}"/>
              </a:ext>
            </a:extLst>
          </p:cNvPr>
          <p:cNvSpPr>
            <a:spLocks xmlns:a="http://schemas.openxmlformats.org/drawingml/2006/main" noGrp="1"/>
          </p:cNvSpPr>
          <p:nvPr/>
        </p:nvSpPr>
        <p:spPr>
          <a:xfrm xmlns:a="http://schemas.openxmlformats.org/drawingml/2006/main">
            <a:off x="400050" y="15430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SPATIAL EQUATION</a:t>
            </a:r>
          </a:p>
        </p:txBody>
      </p:sp>
      <p:sp>
        <p:nvSpPr>
          <p:cNvPr id="6" name="">
            <a:extLst xmlns:a="http://schemas.openxmlformats.org/drawingml/2006/main">
              <a:ext uri="{FF2B5EF4-FFF2-40B4-BE49-F238E27FC236}">
                <a16:creationId xmlns:a16="http://schemas.microsoft.com/office/drawing/2014/main" id="{2C4904BE-9028-4133-916F-D53ECA7C5E47}"/>
              </a:ext>
            </a:extLst>
          </p:cNvPr>
          <p:cNvSpPr>
            <a:spLocks xmlns:a="http://schemas.openxmlformats.org/drawingml/2006/main" noGrp="1"/>
          </p:cNvSpPr>
          <p:nvPr/>
        </p:nvSpPr>
        <p:spPr>
          <a:xfrm xmlns:a="http://schemas.openxmlformats.org/drawingml/2006/main">
            <a:off x="400050" y="1981200"/>
            <a:ext cx="533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d²x / dλ²  =  −3 M L² x / r⁵</a:t>
            </a:r>
          </a:p>
        </p:txBody>
      </p:sp>
      <p:sp>
        <p:nvSpPr>
          <p:cNvPr id="7" name="">
            <a:extLst xmlns:a="http://schemas.openxmlformats.org/drawingml/2006/main">
              <a:ext uri="{FF2B5EF4-FFF2-40B4-BE49-F238E27FC236}">
                <a16:creationId xmlns:a16="http://schemas.microsoft.com/office/drawing/2014/main" id="{DC6360A9-C0CC-4ED1-8FA4-A3A18173B36F}"/>
              </a:ext>
            </a:extLst>
          </p:cNvPr>
          <p:cNvSpPr>
            <a:spLocks xmlns:a="http://schemas.openxmlformats.org/drawingml/2006/main" noGrp="1"/>
          </p:cNvSpPr>
          <p:nvPr/>
        </p:nvSpPr>
        <p:spPr>
          <a:xfrm xmlns:a="http://schemas.openxmlformats.org/drawingml/2006/main">
            <a:off x="400050" y="3000375"/>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596273"/>
                </a:solidFill>
                <a:latin typeface="Helvetica Neue"/>
                <a:ea typeface="Helvetica Neue"/>
                <a:cs typeface="Helvetica Neue"/>
              </a:defRPr>
            </a:pPr>
            <a:r>
              <a:rPr sz="1800" b="0" i="0">
                <a:solidFill>
                  <a:srgbClr val="596273"/>
                </a:solidFill>
                <a:latin typeface="Helvetica Neue"/>
                <a:ea typeface="Helvetica Neue"/>
                <a:cs typeface="Helvetica Neue"/>
              </a:rPr>
              <a:t>L = x × dx/dλ</a:t>
            </a:r>
          </a:p>
        </p:txBody>
      </p:sp>
      <p:sp>
        <p:nvSpPr>
          <p:cNvPr id="8" name="">
            <a:extLst xmlns:a="http://schemas.openxmlformats.org/drawingml/2006/main">
              <a:ext uri="{FF2B5EF4-FFF2-40B4-BE49-F238E27FC236}">
                <a16:creationId xmlns:a16="http://schemas.microsoft.com/office/drawing/2014/main" id="{F206263D-52F5-4E7C-9A9D-C7D3CB707248}"/>
              </a:ext>
            </a:extLst>
          </p:cNvPr>
          <p:cNvSpPr>
            <a:spLocks xmlns:a="http://schemas.openxmlformats.org/drawingml/2006/main" noGrp="1"/>
          </p:cNvSpPr>
          <p:nvPr/>
        </p:nvSpPr>
        <p:spPr>
          <a:xfrm xmlns:a="http://schemas.openxmlformats.org/drawingml/2006/main">
            <a:off x="400050" y="3724275"/>
            <a:ext cx="5029200" cy="1333500"/>
          </a:xfrm>
          <a:prstGeom xmlns:a="http://schemas.openxmlformats.org/drawingml/2006/main" prst="roundRect">
            <a:avLst>
              <a:gd name="adj" fmla="val 11429"/>
            </a:avLst>
          </a:prstGeom>
          <a:solidFill xmlns:a="http://schemas.openxmlformats.org/drawingml/2006/main">
            <a:srgbClr val="FAF4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7F7FDE6-3F33-43C3-B781-D304A76196F8}"/>
              </a:ext>
            </a:extLst>
          </p:cNvPr>
          <p:cNvSpPr>
            <a:spLocks xmlns:a="http://schemas.openxmlformats.org/drawingml/2006/main" noGrp="1"/>
          </p:cNvSpPr>
          <p:nvPr/>
        </p:nvSpPr>
        <p:spPr>
          <a:xfrm xmlns:a="http://schemas.openxmlformats.org/drawingml/2006/main">
            <a:off x="647700" y="3943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9A5E18"/>
                </a:solidFill>
                <a:latin typeface="Helvetica Neue"/>
                <a:ea typeface="Helvetica Neue"/>
                <a:cs typeface="Helvetica Neue"/>
              </a:defRPr>
            </a:pPr>
            <a:r>
              <a:rPr sz="1425" b="1" i="0">
                <a:solidFill>
                  <a:srgbClr val="9A5E18"/>
                </a:solidFill>
                <a:latin typeface="Helvetica Neue"/>
                <a:ea typeface="Helvetica Neue"/>
                <a:cs typeface="Helvetica Neue"/>
              </a:rPr>
              <a:t>Why the coefficient matches</a:t>
            </a:r>
          </a:p>
        </p:txBody>
      </p:sp>
      <p:sp>
        <p:nvSpPr>
          <p:cNvPr id="10" name="">
            <a:extLst xmlns:a="http://schemas.openxmlformats.org/drawingml/2006/main">
              <a:ext uri="{FF2B5EF4-FFF2-40B4-BE49-F238E27FC236}">
                <a16:creationId xmlns:a16="http://schemas.microsoft.com/office/drawing/2014/main" id="{9ED98BED-5164-4F34-BB37-ADF47A381585}"/>
              </a:ext>
            </a:extLst>
          </p:cNvPr>
          <p:cNvSpPr>
            <a:spLocks xmlns:a="http://schemas.openxmlformats.org/drawingml/2006/main" noGrp="1"/>
          </p:cNvSpPr>
          <p:nvPr/>
        </p:nvSpPr>
        <p:spPr>
          <a:xfrm xmlns:a="http://schemas.openxmlformats.org/drawingml/2006/main">
            <a:off x="647700" y="4362450"/>
            <a:ext cx="434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111827"/>
                </a:solidFill>
                <a:latin typeface="Helvetica Neue"/>
                <a:ea typeface="Helvetica Neue"/>
                <a:cs typeface="Helvetica Neue"/>
              </a:defRPr>
            </a:pPr>
            <a:r>
              <a:rPr sz="1500" b="0" i="0">
                <a:solidFill>
                  <a:srgbClr val="111827"/>
                </a:solidFill>
                <a:latin typeface="Helvetica Neue"/>
                <a:ea typeface="Helvetica Neue"/>
                <a:cs typeface="Helvetica Neue"/>
              </a:rPr>
              <a:t>The code uses −1.5 × RS. Because RS = 2M, that becomes exactly −3M.</a:t>
            </a:r>
          </a:p>
        </p:txBody>
      </p:sp>
      <p:sp>
        <p:nvSpPr>
          <p:cNvPr id="11" name="">
            <a:extLst xmlns:a="http://schemas.openxmlformats.org/drawingml/2006/main">
              <a:ext uri="{FF2B5EF4-FFF2-40B4-BE49-F238E27FC236}">
                <a16:creationId xmlns:a16="http://schemas.microsoft.com/office/drawing/2014/main" id="{16352521-34CC-4F40-A79F-6D9E6B752ECD}"/>
              </a:ext>
            </a:extLst>
          </p:cNvPr>
          <p:cNvSpPr>
            <a:spLocks xmlns:a="http://schemas.openxmlformats.org/drawingml/2006/main" noGrp="1"/>
          </p:cNvSpPr>
          <p:nvPr/>
        </p:nvSpPr>
        <p:spPr>
          <a:xfrm xmlns:a="http://schemas.openxmlformats.org/drawingml/2006/main">
            <a:off x="6210300" y="15430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GLSL IMPLEMENTATION · LINES 56–62</a:t>
            </a:r>
          </a:p>
        </p:txBody>
      </p:sp>
      <p:sp>
        <p:nvSpPr>
          <p:cNvPr id="12" name="">
            <a:extLst xmlns:a="http://schemas.openxmlformats.org/drawingml/2006/main">
              <a:ext uri="{FF2B5EF4-FFF2-40B4-BE49-F238E27FC236}">
                <a16:creationId xmlns:a16="http://schemas.microsoft.com/office/drawing/2014/main" id="{4713101B-3CC7-4D7A-8077-4E98726FF5B0}"/>
              </a:ext>
            </a:extLst>
          </p:cNvPr>
          <p:cNvSpPr>
            <a:spLocks xmlns:a="http://schemas.openxmlformats.org/drawingml/2006/main" noGrp="1"/>
          </p:cNvSpPr>
          <p:nvPr/>
        </p:nvSpPr>
        <p:spPr>
          <a:xfrm xmlns:a="http://schemas.openxmlformats.org/drawingml/2006/main">
            <a:off x="6210300" y="1952625"/>
            <a:ext cx="5581650" cy="3114675"/>
          </a:xfrm>
          <a:prstGeom xmlns:a="http://schemas.openxmlformats.org/drawingml/2006/main" prst="roundRect">
            <a:avLst>
              <a:gd name="adj" fmla="val 3670"/>
            </a:avLst>
          </a:prstGeom>
          <a:solidFill xmlns:a="http://schemas.openxmlformats.org/drawingml/2006/main">
            <a:srgbClr val="1118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8D85D5-AF3E-471D-9467-8C7E2CF2DCFE}"/>
              </a:ext>
            </a:extLst>
          </p:cNvPr>
          <p:cNvSpPr>
            <a:spLocks xmlns:a="http://schemas.openxmlformats.org/drawingml/2006/main" noGrp="1"/>
          </p:cNvSpPr>
          <p:nvPr/>
        </p:nvSpPr>
        <p:spPr>
          <a:xfrm xmlns:a="http://schemas.openxmlformats.org/drawingml/2006/main">
            <a:off x="6477000" y="2190750"/>
            <a:ext cx="495300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vec3 geodesicAccel(vec3 pos, vec3 vel) {</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float r2 = dot(pos, pos);</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float r = sqrt(max(r2, 1e-6));</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vec3 L = cross(pos, vel);</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float L2 = max(dot(L, L), 1e-8);</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return -1.5 * RS * L2 * pos</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         / (r2 * r2 * r);</a:t>
            </a:r>
          </a:p>
          <a:p xmlns:a="http://schemas.openxmlformats.org/drawingml/2006/main">
            <a:pPr algn="l">
              <a:defRPr sz="1350" b="0" i="0">
                <a:solidFill>
                  <a:srgbClr val="FFFFFF"/>
                </a:solidFill>
                <a:latin typeface="Menlo"/>
                <a:ea typeface="Menlo"/>
                <a:cs typeface="Menlo"/>
              </a:defRPr>
            </a:pPr>
            <a:r>
              <a:rPr sz="1350" b="0" i="0">
                <a:solidFill>
                  <a:srgbClr val="FFFFFF"/>
                </a:solidFill>
                <a:latin typeface="Menlo"/>
                <a:ea typeface="Menlo"/>
                <a:cs typeface="Menlo"/>
              </a:rPr>
              <a:t>}</a:t>
            </a:r>
          </a:p>
        </p:txBody>
      </p:sp>
      <p:sp>
        <p:nvSpPr>
          <p:cNvPr id="14" name="">
            <a:extLst xmlns:a="http://schemas.openxmlformats.org/drawingml/2006/main">
              <a:ext uri="{FF2B5EF4-FFF2-40B4-BE49-F238E27FC236}">
                <a16:creationId xmlns:a16="http://schemas.microsoft.com/office/drawing/2014/main" id="{9028BBF2-D9F5-4E82-89AE-E5E2DD89FE23}"/>
              </a:ext>
            </a:extLst>
          </p:cNvPr>
          <p:cNvSpPr>
            <a:spLocks xmlns:a="http://schemas.openxmlformats.org/drawingml/2006/main" noGrp="1"/>
          </p:cNvSpPr>
          <p:nvPr/>
        </p:nvSpPr>
        <p:spPr>
          <a:xfrm xmlns:a="http://schemas.openxmlformats.org/drawingml/2006/main">
            <a:off x="6210300" y="5343525"/>
            <a:ext cx="3476625" cy="342900"/>
          </a:xfrm>
          <a:prstGeom xmlns:a="http://schemas.openxmlformats.org/drawingml/2006/main" prst="roundRect">
            <a:avLst>
              <a:gd name="adj" fmla="val 44444"/>
            </a:avLst>
          </a:prstGeom>
          <a:solidFill xmlns:a="http://schemas.openxmlformats.org/drawingml/2006/main">
            <a:srgbClr val="FAF4EA"/>
          </a:solidFill>
          <a:ln xmlns:a="http://schemas.openxmlformats.org/drawingml/2006/main" w="0">
            <a:noFill/>
            <a:prstDash val="solid"/>
          </a:ln>
        </p:spPr>
        <p:txBody>
          <a:bodyPr xmlns:a="http://schemas.openxmlformats.org/drawingml/2006/main" lIns="66675" tIns="28575" rIns="66675" bIns="28575" anchor="ctr">
            <a:normAutofit fontScale="100000"/>
          </a:bodyPr>
          <a:lstStyle xmlns:a="http://schemas.openxmlformats.org/drawingml/2006/main"/>
          <a:p xmlns:a="http://schemas.openxmlformats.org/drawingml/2006/main">
            <a:pPr algn="ctr">
              <a:defRPr sz="1050" b="1">
                <a:solidFill>
                  <a:srgbClr val="9A5E18"/>
                </a:solidFill>
                <a:latin typeface="Helvetica Neue"/>
                <a:ea typeface="Helvetica Neue"/>
                <a:cs typeface="Helvetica Neue"/>
              </a:defRPr>
            </a:pPr>
            <a:r>
              <a:rPr sz="1050" b="1">
                <a:solidFill>
                  <a:srgbClr val="9A5E18"/>
                </a:solidFill>
                <a:latin typeface="Helvetica Neue"/>
                <a:ea typeface="Helvetica Neue"/>
                <a:cs typeface="Helvetica Neue"/>
              </a:rPr>
              <a:t>PHOTON SPHERE EMERGES AT r = 3M</a:t>
            </a:r>
          </a:p>
        </p:txBody>
      </p:sp>
    </p:spTree>
    <p:extLst>
      <p:ext uri="{BB962C8B-B14F-4D97-AF65-F5344CB8AC3E}">
        <p14:creationId xmlns:p14="http://schemas.microsoft.com/office/powerpoint/2010/main" val="20281273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FDEA4CE-FBE6-4A17-873C-F3406C2C8381}"/>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NUMERICS</a:t>
            </a:r>
          </a:p>
        </p:txBody>
      </p:sp>
      <p:sp>
        <p:nvSpPr>
          <p:cNvPr id="2" name="">
            <a:extLst xmlns:a="http://schemas.openxmlformats.org/drawingml/2006/main">
              <a:ext uri="{FF2B5EF4-FFF2-40B4-BE49-F238E27FC236}">
                <a16:creationId xmlns:a16="http://schemas.microsoft.com/office/drawing/2014/main" id="{4A670A0F-A737-4E9C-829A-40BE0BA115BA}"/>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Each step uses the explicit midpoint RK2 method</a:t>
            </a:r>
          </a:p>
        </p:txBody>
      </p:sp>
      <p:sp>
        <p:nvSpPr>
          <p:cNvPr id="3" name="">
            <a:extLst xmlns:a="http://schemas.openxmlformats.org/drawingml/2006/main">
              <a:ext uri="{FF2B5EF4-FFF2-40B4-BE49-F238E27FC236}">
                <a16:creationId xmlns:a16="http://schemas.microsoft.com/office/drawing/2014/main" id="{99F4D42A-CDD1-4496-A64E-A6BEA4EE1D61}"/>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CF2627F0-F690-4ABB-A4B8-9A49BB80F71F}"/>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868498-6838-4737-9217-1817E3DB41EF}"/>
              </a:ext>
            </a:extLst>
          </p:cNvPr>
          <p:cNvSpPr>
            <a:spLocks xmlns:a="http://schemas.openxmlformats.org/drawingml/2006/main" noGrp="1"/>
          </p:cNvSpPr>
          <p:nvPr/>
        </p:nvSpPr>
        <p:spPr>
          <a:xfrm xmlns:a="http://schemas.openxmlformats.org/drawingml/2006/main">
            <a:off x="400050" y="16573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9CC2929-14FC-4FE0-B507-45391BE33340}"/>
              </a:ext>
            </a:extLst>
          </p:cNvPr>
          <p:cNvSpPr>
            <a:spLocks xmlns:a="http://schemas.openxmlformats.org/drawingml/2006/main" noGrp="1"/>
          </p:cNvSpPr>
          <p:nvPr/>
        </p:nvSpPr>
        <p:spPr>
          <a:xfrm xmlns:a="http://schemas.openxmlformats.org/drawingml/2006/main">
            <a:off x="400050" y="2171700"/>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Evaluate the start</a:t>
            </a:r>
          </a:p>
        </p:txBody>
      </p:sp>
      <p:sp>
        <p:nvSpPr>
          <p:cNvPr id="7" name="">
            <a:extLst xmlns:a="http://schemas.openxmlformats.org/drawingml/2006/main">
              <a:ext uri="{FF2B5EF4-FFF2-40B4-BE49-F238E27FC236}">
                <a16:creationId xmlns:a16="http://schemas.microsoft.com/office/drawing/2014/main" id="{AFC624F7-67B6-4B02-A8B7-BC3FC7792C45}"/>
              </a:ext>
            </a:extLst>
          </p:cNvPr>
          <p:cNvSpPr>
            <a:spLocks xmlns:a="http://schemas.openxmlformats.org/drawingml/2006/main" noGrp="1"/>
          </p:cNvSpPr>
          <p:nvPr/>
        </p:nvSpPr>
        <p:spPr>
          <a:xfrm xmlns:a="http://schemas.openxmlformats.org/drawingml/2006/main">
            <a:off x="400050" y="2924175"/>
            <a:ext cx="3333750" cy="1181100"/>
          </a:xfrm>
          <a:prstGeom xmlns:a="http://schemas.openxmlformats.org/drawingml/2006/main" prst="roundRect">
            <a:avLst>
              <a:gd name="adj" fmla="val 9677"/>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0982AC-154E-4291-B85D-737D840441E0}"/>
              </a:ext>
            </a:extLst>
          </p:cNvPr>
          <p:cNvSpPr>
            <a:spLocks xmlns:a="http://schemas.openxmlformats.org/drawingml/2006/main" noGrp="1"/>
          </p:cNvSpPr>
          <p:nvPr/>
        </p:nvSpPr>
        <p:spPr>
          <a:xfrm xmlns:a="http://schemas.openxmlformats.org/drawingml/2006/main">
            <a:off x="590550" y="319087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111827"/>
                </a:solidFill>
                <a:latin typeface="Menlo"/>
                <a:ea typeface="Menlo"/>
                <a:cs typeface="Menlo"/>
              </a:defRPr>
            </a:pPr>
            <a:r>
              <a:rPr sz="1800" b="1" i="0">
                <a:solidFill>
                  <a:srgbClr val="111827"/>
                </a:solidFill>
                <a:latin typeface="Menlo"/>
                <a:ea typeface="Menlo"/>
                <a:cs typeface="Menlo"/>
              </a:rPr>
              <a:t>a₁ = a(xₙ, vₙ)</a:t>
            </a:r>
          </a:p>
        </p:txBody>
      </p:sp>
      <p:sp>
        <p:nvSpPr>
          <p:cNvPr id="9" name="">
            <a:extLst xmlns:a="http://schemas.openxmlformats.org/drawingml/2006/main">
              <a:ext uri="{FF2B5EF4-FFF2-40B4-BE49-F238E27FC236}">
                <a16:creationId xmlns:a16="http://schemas.microsoft.com/office/drawing/2014/main" id="{0B294F31-82E9-4891-9994-44A39B923F0D}"/>
              </a:ext>
            </a:extLst>
          </p:cNvPr>
          <p:cNvSpPr>
            <a:spLocks xmlns:a="http://schemas.openxmlformats.org/drawingml/2006/main" noGrp="1"/>
          </p:cNvSpPr>
          <p:nvPr/>
        </p:nvSpPr>
        <p:spPr>
          <a:xfrm xmlns:a="http://schemas.openxmlformats.org/drawingml/2006/main">
            <a:off x="400050" y="4391025"/>
            <a:ext cx="3257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Curvature is computed from the ray’s current position and direction.</a:t>
            </a:r>
          </a:p>
        </p:txBody>
      </p:sp>
      <p:sp>
        <p:nvSpPr>
          <p:cNvPr id="10" name="">
            <a:extLst xmlns:a="http://schemas.openxmlformats.org/drawingml/2006/main">
              <a:ext uri="{FF2B5EF4-FFF2-40B4-BE49-F238E27FC236}">
                <a16:creationId xmlns:a16="http://schemas.microsoft.com/office/drawing/2014/main" id="{74705DF5-DAB7-4526-A2B7-1B9A548E6451}"/>
              </a:ext>
            </a:extLst>
          </p:cNvPr>
          <p:cNvSpPr>
            <a:spLocks xmlns:a="http://schemas.openxmlformats.org/drawingml/2006/main" noGrp="1"/>
          </p:cNvSpPr>
          <p:nvPr/>
        </p:nvSpPr>
        <p:spPr>
          <a:xfrm xmlns:a="http://schemas.openxmlformats.org/drawingml/2006/main">
            <a:off x="3771900" y="3476625"/>
            <a:ext cx="2857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D1F0052-BBA0-4634-9DC4-EBF067C5681C}"/>
              </a:ext>
            </a:extLst>
          </p:cNvPr>
          <p:cNvSpPr>
            <a:spLocks xmlns:a="http://schemas.openxmlformats.org/drawingml/2006/main" noGrp="1"/>
          </p:cNvSpPr>
          <p:nvPr/>
        </p:nvSpPr>
        <p:spPr>
          <a:xfrm xmlns:a="http://schemas.openxmlformats.org/drawingml/2006/main" rot="5400000">
            <a:off x="4038600" y="34004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22496CA-1D88-48C6-9F42-5286BFD7369A}"/>
              </a:ext>
            </a:extLst>
          </p:cNvPr>
          <p:cNvSpPr>
            <a:spLocks xmlns:a="http://schemas.openxmlformats.org/drawingml/2006/main" noGrp="1"/>
          </p:cNvSpPr>
          <p:nvPr/>
        </p:nvSpPr>
        <p:spPr>
          <a:xfrm xmlns:a="http://schemas.openxmlformats.org/drawingml/2006/main">
            <a:off x="4229100" y="16573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AA2FEC4C-C1A5-40F2-9A99-872027787E0A}"/>
              </a:ext>
            </a:extLst>
          </p:cNvPr>
          <p:cNvSpPr>
            <a:spLocks xmlns:a="http://schemas.openxmlformats.org/drawingml/2006/main" noGrp="1"/>
          </p:cNvSpPr>
          <p:nvPr/>
        </p:nvSpPr>
        <p:spPr>
          <a:xfrm xmlns:a="http://schemas.openxmlformats.org/drawingml/2006/main">
            <a:off x="4229100" y="2171700"/>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Predict the midpoint</a:t>
            </a:r>
          </a:p>
        </p:txBody>
      </p:sp>
      <p:sp>
        <p:nvSpPr>
          <p:cNvPr id="14" name="">
            <a:extLst xmlns:a="http://schemas.openxmlformats.org/drawingml/2006/main">
              <a:ext uri="{FF2B5EF4-FFF2-40B4-BE49-F238E27FC236}">
                <a16:creationId xmlns:a16="http://schemas.microsoft.com/office/drawing/2014/main" id="{F4A6416C-56DC-4537-B181-004CC4B0EBB0}"/>
              </a:ext>
            </a:extLst>
          </p:cNvPr>
          <p:cNvSpPr>
            <a:spLocks xmlns:a="http://schemas.openxmlformats.org/drawingml/2006/main" noGrp="1"/>
          </p:cNvSpPr>
          <p:nvPr/>
        </p:nvSpPr>
        <p:spPr>
          <a:xfrm xmlns:a="http://schemas.openxmlformats.org/drawingml/2006/main">
            <a:off x="4229100" y="2924175"/>
            <a:ext cx="3333750" cy="1181100"/>
          </a:xfrm>
          <a:prstGeom xmlns:a="http://schemas.openxmlformats.org/drawingml/2006/main" prst="roundRect">
            <a:avLst>
              <a:gd name="adj" fmla="val 9677"/>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81D5E84-9650-45C5-A521-31D27BF3DA52}"/>
              </a:ext>
            </a:extLst>
          </p:cNvPr>
          <p:cNvSpPr>
            <a:spLocks xmlns:a="http://schemas.openxmlformats.org/drawingml/2006/main" noGrp="1"/>
          </p:cNvSpPr>
          <p:nvPr/>
        </p:nvSpPr>
        <p:spPr>
          <a:xfrm xmlns:a="http://schemas.openxmlformats.org/drawingml/2006/main">
            <a:off x="4419600" y="319087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111827"/>
                </a:solidFill>
                <a:latin typeface="Menlo"/>
                <a:ea typeface="Menlo"/>
                <a:cs typeface="Menlo"/>
              </a:defRPr>
            </a:pPr>
            <a:r>
              <a:rPr sz="1800" b="1" i="0">
                <a:solidFill>
                  <a:srgbClr val="111827"/>
                </a:solidFill>
                <a:latin typeface="Menlo"/>
                <a:ea typeface="Menlo"/>
                <a:cs typeface="Menlo"/>
              </a:rPr>
              <a:t>xₘ = xₙ + ½hvₙ</a:t>
            </a:r>
          </a:p>
          <a:p xmlns:a="http://schemas.openxmlformats.org/drawingml/2006/main">
            <a:pPr algn="ctr">
              <a:defRPr sz="1800" b="1" i="0">
                <a:solidFill>
                  <a:srgbClr val="111827"/>
                </a:solidFill>
                <a:latin typeface="Menlo"/>
                <a:ea typeface="Menlo"/>
                <a:cs typeface="Menlo"/>
              </a:defRPr>
            </a:pPr>
            <a:r>
              <a:rPr sz="1800" b="1" i="0">
                <a:solidFill>
                  <a:srgbClr val="111827"/>
                </a:solidFill>
                <a:latin typeface="Menlo"/>
                <a:ea typeface="Menlo"/>
                <a:cs typeface="Menlo"/>
              </a:rPr>
              <a:t>vₘ = vₙ + ½ha₁</a:t>
            </a:r>
          </a:p>
        </p:txBody>
      </p:sp>
      <p:sp>
        <p:nvSpPr>
          <p:cNvPr id="16" name="">
            <a:extLst xmlns:a="http://schemas.openxmlformats.org/drawingml/2006/main">
              <a:ext uri="{FF2B5EF4-FFF2-40B4-BE49-F238E27FC236}">
                <a16:creationId xmlns:a16="http://schemas.microsoft.com/office/drawing/2014/main" id="{8CA67F90-8C2A-47A7-968D-6C57E047EA48}"/>
              </a:ext>
            </a:extLst>
          </p:cNvPr>
          <p:cNvSpPr>
            <a:spLocks xmlns:a="http://schemas.openxmlformats.org/drawingml/2006/main" noGrp="1"/>
          </p:cNvSpPr>
          <p:nvPr/>
        </p:nvSpPr>
        <p:spPr>
          <a:xfrm xmlns:a="http://schemas.openxmlformats.org/drawingml/2006/main">
            <a:off x="4229100" y="4391025"/>
            <a:ext cx="3257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A half-step estimate samples acceleration where the step is headed.</a:t>
            </a:r>
          </a:p>
        </p:txBody>
      </p:sp>
      <p:sp>
        <p:nvSpPr>
          <p:cNvPr id="17" name="">
            <a:extLst xmlns:a="http://schemas.openxmlformats.org/drawingml/2006/main">
              <a:ext uri="{FF2B5EF4-FFF2-40B4-BE49-F238E27FC236}">
                <a16:creationId xmlns:a16="http://schemas.microsoft.com/office/drawing/2014/main" id="{84E4ECFA-AF63-485C-8BD2-A01243D49A5E}"/>
              </a:ext>
            </a:extLst>
          </p:cNvPr>
          <p:cNvSpPr>
            <a:spLocks xmlns:a="http://schemas.openxmlformats.org/drawingml/2006/main" noGrp="1"/>
          </p:cNvSpPr>
          <p:nvPr/>
        </p:nvSpPr>
        <p:spPr>
          <a:xfrm xmlns:a="http://schemas.openxmlformats.org/drawingml/2006/main">
            <a:off x="7600950" y="3476625"/>
            <a:ext cx="28575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7C93BEB-BB35-42EE-9DBB-7ACA04E340E6}"/>
              </a:ext>
            </a:extLst>
          </p:cNvPr>
          <p:cNvSpPr>
            <a:spLocks xmlns:a="http://schemas.openxmlformats.org/drawingml/2006/main" noGrp="1"/>
          </p:cNvSpPr>
          <p:nvPr/>
        </p:nvSpPr>
        <p:spPr>
          <a:xfrm xmlns:a="http://schemas.openxmlformats.org/drawingml/2006/main" rot="5400000">
            <a:off x="7867650" y="3400425"/>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DFA112B-52AA-4095-8B70-2516B482CEA4}"/>
              </a:ext>
            </a:extLst>
          </p:cNvPr>
          <p:cNvSpPr>
            <a:spLocks xmlns:a="http://schemas.openxmlformats.org/drawingml/2006/main" noGrp="1"/>
          </p:cNvSpPr>
          <p:nvPr/>
        </p:nvSpPr>
        <p:spPr>
          <a:xfrm xmlns:a="http://schemas.openxmlformats.org/drawingml/2006/main">
            <a:off x="8058150" y="16573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CA9A56CE-8657-4DDB-A5CD-C8ABAF3FA5F2}"/>
              </a:ext>
            </a:extLst>
          </p:cNvPr>
          <p:cNvSpPr>
            <a:spLocks xmlns:a="http://schemas.openxmlformats.org/drawingml/2006/main" noGrp="1"/>
          </p:cNvSpPr>
          <p:nvPr/>
        </p:nvSpPr>
        <p:spPr>
          <a:xfrm xmlns:a="http://schemas.openxmlformats.org/drawingml/2006/main">
            <a:off x="8058150" y="2171700"/>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11827"/>
                </a:solidFill>
                <a:latin typeface="Helvetica Neue"/>
                <a:ea typeface="Helvetica Neue"/>
                <a:cs typeface="Helvetica Neue"/>
              </a:defRPr>
            </a:pPr>
            <a:r>
              <a:rPr sz="2025" b="1" i="0">
                <a:solidFill>
                  <a:srgbClr val="111827"/>
                </a:solidFill>
                <a:latin typeface="Helvetica Neue"/>
                <a:ea typeface="Helvetica Neue"/>
                <a:cs typeface="Helvetica Neue"/>
              </a:rPr>
              <a:t>Advance from midpoint</a:t>
            </a:r>
          </a:p>
        </p:txBody>
      </p:sp>
      <p:sp>
        <p:nvSpPr>
          <p:cNvPr id="21" name="">
            <a:extLst xmlns:a="http://schemas.openxmlformats.org/drawingml/2006/main">
              <a:ext uri="{FF2B5EF4-FFF2-40B4-BE49-F238E27FC236}">
                <a16:creationId xmlns:a16="http://schemas.microsoft.com/office/drawing/2014/main" id="{5B79750E-468F-49B5-90D0-B65696A928B8}"/>
              </a:ext>
            </a:extLst>
          </p:cNvPr>
          <p:cNvSpPr>
            <a:spLocks xmlns:a="http://schemas.openxmlformats.org/drawingml/2006/main" noGrp="1"/>
          </p:cNvSpPr>
          <p:nvPr/>
        </p:nvSpPr>
        <p:spPr>
          <a:xfrm xmlns:a="http://schemas.openxmlformats.org/drawingml/2006/main">
            <a:off x="8058150" y="2924175"/>
            <a:ext cx="3333750" cy="1181100"/>
          </a:xfrm>
          <a:prstGeom xmlns:a="http://schemas.openxmlformats.org/drawingml/2006/main" prst="roundRect">
            <a:avLst>
              <a:gd name="adj" fmla="val 9677"/>
            </a:avLst>
          </a:prstGeom>
          <a:solidFill xmlns:a="http://schemas.openxmlformats.org/drawingml/2006/main">
            <a:srgbClr val="F2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0071216-3C91-45ED-9144-6B75CE151A60}"/>
              </a:ext>
            </a:extLst>
          </p:cNvPr>
          <p:cNvSpPr>
            <a:spLocks xmlns:a="http://schemas.openxmlformats.org/drawingml/2006/main" noGrp="1"/>
          </p:cNvSpPr>
          <p:nvPr/>
        </p:nvSpPr>
        <p:spPr>
          <a:xfrm xmlns:a="http://schemas.openxmlformats.org/drawingml/2006/main">
            <a:off x="8248650" y="319087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111827"/>
                </a:solidFill>
                <a:latin typeface="Menlo"/>
                <a:ea typeface="Menlo"/>
                <a:cs typeface="Menlo"/>
              </a:defRPr>
            </a:pPr>
            <a:r>
              <a:rPr sz="1800" b="1" i="0">
                <a:solidFill>
                  <a:srgbClr val="111827"/>
                </a:solidFill>
                <a:latin typeface="Menlo"/>
                <a:ea typeface="Menlo"/>
                <a:cs typeface="Menlo"/>
              </a:rPr>
              <a:t>xₙ₊₁ = xₙ + hvₘ</a:t>
            </a:r>
          </a:p>
          <a:p xmlns:a="http://schemas.openxmlformats.org/drawingml/2006/main">
            <a:pPr algn="ctr">
              <a:defRPr sz="1800" b="1" i="0">
                <a:solidFill>
                  <a:srgbClr val="111827"/>
                </a:solidFill>
                <a:latin typeface="Menlo"/>
                <a:ea typeface="Menlo"/>
                <a:cs typeface="Menlo"/>
              </a:defRPr>
            </a:pPr>
            <a:r>
              <a:rPr sz="1800" b="1" i="0">
                <a:solidFill>
                  <a:srgbClr val="111827"/>
                </a:solidFill>
                <a:latin typeface="Menlo"/>
                <a:ea typeface="Menlo"/>
                <a:cs typeface="Menlo"/>
              </a:rPr>
              <a:t>vₙ₊₁ = vₙ + ha₂</a:t>
            </a:r>
          </a:p>
        </p:txBody>
      </p:sp>
      <p:sp>
        <p:nvSpPr>
          <p:cNvPr id="23" name="">
            <a:extLst xmlns:a="http://schemas.openxmlformats.org/drawingml/2006/main">
              <a:ext uri="{FF2B5EF4-FFF2-40B4-BE49-F238E27FC236}">
                <a16:creationId xmlns:a16="http://schemas.microsoft.com/office/drawing/2014/main" id="{B5B7792B-7332-4A5D-B5AB-6CCB5B31B72D}"/>
              </a:ext>
            </a:extLst>
          </p:cNvPr>
          <p:cNvSpPr>
            <a:spLocks xmlns:a="http://schemas.openxmlformats.org/drawingml/2006/main" noGrp="1"/>
          </p:cNvSpPr>
          <p:nvPr/>
        </p:nvSpPr>
        <p:spPr>
          <a:xfrm xmlns:a="http://schemas.openxmlformats.org/drawingml/2006/main">
            <a:off x="8058150" y="4391025"/>
            <a:ext cx="3257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The full update uses the midpoint velocity and acceleration.</a:t>
            </a:r>
          </a:p>
        </p:txBody>
      </p:sp>
      <p:sp>
        <p:nvSpPr>
          <p:cNvPr id="24" name="">
            <a:extLst xmlns:a="http://schemas.openxmlformats.org/drawingml/2006/main">
              <a:ext uri="{FF2B5EF4-FFF2-40B4-BE49-F238E27FC236}">
                <a16:creationId xmlns:a16="http://schemas.microsoft.com/office/drawing/2014/main" id="{2FD2ADA0-A228-440E-A132-F38F6A70D997}"/>
              </a:ext>
            </a:extLst>
          </p:cNvPr>
          <p:cNvSpPr>
            <a:spLocks xmlns:a="http://schemas.openxmlformats.org/drawingml/2006/main" noGrp="1"/>
          </p:cNvSpPr>
          <p:nvPr/>
        </p:nvSpPr>
        <p:spPr>
          <a:xfrm xmlns:a="http://schemas.openxmlformats.org/drawingml/2006/main">
            <a:off x="400050" y="5467350"/>
            <a:ext cx="11391900" cy="28575"/>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5AF036-45BF-4C0E-8E67-9D3824C09332}"/>
              </a:ext>
            </a:extLst>
          </p:cNvPr>
          <p:cNvSpPr>
            <a:spLocks xmlns:a="http://schemas.openxmlformats.org/drawingml/2006/main" noGrp="1"/>
          </p:cNvSpPr>
          <p:nvPr/>
        </p:nvSpPr>
        <p:spPr>
          <a:xfrm xmlns:a="http://schemas.openxmlformats.org/drawingml/2006/main">
            <a:off x="400050" y="56292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Step size h = clamp(0.045r, 0.025, 0.4) · maximum 260 iterations per pixel</a:t>
            </a:r>
          </a:p>
        </p:txBody>
      </p:sp>
    </p:spTree>
    <p:extLst>
      <p:ext uri="{BB962C8B-B14F-4D97-AF65-F5344CB8AC3E}">
        <p14:creationId xmlns:p14="http://schemas.microsoft.com/office/powerpoint/2010/main" val="5271683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39586D-BC39-41E2-BB6A-3DB6FA8505E2}"/>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TRACE LOOP</a:t>
            </a:r>
          </a:p>
        </p:txBody>
      </p:sp>
      <p:sp>
        <p:nvSpPr>
          <p:cNvPr id="2" name="">
            <a:extLst xmlns:a="http://schemas.openxmlformats.org/drawingml/2006/main">
              <a:ext uri="{FF2B5EF4-FFF2-40B4-BE49-F238E27FC236}">
                <a16:creationId xmlns:a16="http://schemas.microsoft.com/office/drawing/2014/main" id="{E28955F1-53EE-477C-B9EB-AB919518BCD9}"/>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Three events determine what a ray contributes</a:t>
            </a:r>
          </a:p>
        </p:txBody>
      </p:sp>
      <p:sp>
        <p:nvSpPr>
          <p:cNvPr id="3" name="">
            <a:extLst xmlns:a="http://schemas.openxmlformats.org/drawingml/2006/main">
              <a:ext uri="{FF2B5EF4-FFF2-40B4-BE49-F238E27FC236}">
                <a16:creationId xmlns:a16="http://schemas.microsoft.com/office/drawing/2014/main" id="{090AFC19-B10E-467F-99A6-8AB187A6FAB4}"/>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44C7908F-5970-4A98-8EF9-61F6D357F2DF}"/>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94C267-7F44-4C0E-9F18-85C93E2324D0}"/>
              </a:ext>
            </a:extLst>
          </p:cNvPr>
          <p:cNvSpPr>
            <a:spLocks xmlns:a="http://schemas.openxmlformats.org/drawingml/2006/main" noGrp="1"/>
          </p:cNvSpPr>
          <p:nvPr/>
        </p:nvSpPr>
        <p:spPr>
          <a:xfrm xmlns:a="http://schemas.openxmlformats.org/drawingml/2006/main">
            <a:off x="400050" y="1866900"/>
            <a:ext cx="3333750" cy="47625"/>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B52F57-0C61-4E79-ABC8-093379B95491}"/>
              </a:ext>
            </a:extLst>
          </p:cNvPr>
          <p:cNvSpPr>
            <a:spLocks xmlns:a="http://schemas.openxmlformats.org/drawingml/2006/main" noGrp="1"/>
          </p:cNvSpPr>
          <p:nvPr/>
        </p:nvSpPr>
        <p:spPr>
          <a:xfrm xmlns:a="http://schemas.openxmlformats.org/drawingml/2006/main">
            <a:off x="400050" y="209550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111827"/>
                </a:solidFill>
                <a:latin typeface="Helvetica Neue"/>
                <a:ea typeface="Helvetica Neue"/>
                <a:cs typeface="Helvetica Neue"/>
              </a:defRPr>
            </a:pPr>
            <a:r>
              <a:rPr sz="2400" b="1" i="0">
                <a:solidFill>
                  <a:srgbClr val="111827"/>
                </a:solidFill>
                <a:latin typeface="Helvetica Neue"/>
                <a:ea typeface="Helvetica Neue"/>
                <a:cs typeface="Helvetica Neue"/>
              </a:rPr>
              <a:t>Capture</a:t>
            </a:r>
          </a:p>
        </p:txBody>
      </p:sp>
      <p:sp>
        <p:nvSpPr>
          <p:cNvPr id="7" name="">
            <a:extLst xmlns:a="http://schemas.openxmlformats.org/drawingml/2006/main">
              <a:ext uri="{FF2B5EF4-FFF2-40B4-BE49-F238E27FC236}">
                <a16:creationId xmlns:a16="http://schemas.microsoft.com/office/drawing/2014/main" id="{19016762-98F2-4246-82C4-3F3ED02628F4}"/>
              </a:ext>
            </a:extLst>
          </p:cNvPr>
          <p:cNvSpPr>
            <a:spLocks xmlns:a="http://schemas.openxmlformats.org/drawingml/2006/main" noGrp="1"/>
          </p:cNvSpPr>
          <p:nvPr/>
        </p:nvSpPr>
        <p:spPr>
          <a:xfrm xmlns:a="http://schemas.openxmlformats.org/drawingml/2006/main">
            <a:off x="400050" y="2743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9A5E18"/>
                </a:solidFill>
                <a:latin typeface="Menlo"/>
                <a:ea typeface="Menlo"/>
                <a:cs typeface="Menlo"/>
              </a:defRPr>
            </a:pPr>
            <a:r>
              <a:rPr sz="1800" b="1" i="0">
                <a:solidFill>
                  <a:srgbClr val="9A5E18"/>
                </a:solidFill>
                <a:latin typeface="Menlo"/>
                <a:ea typeface="Menlo"/>
                <a:cs typeface="Menlo"/>
              </a:rPr>
              <a:t>r &lt; 2.04M</a:t>
            </a:r>
          </a:p>
        </p:txBody>
      </p:sp>
      <p:sp>
        <p:nvSpPr>
          <p:cNvPr id="8" name="">
            <a:extLst xmlns:a="http://schemas.openxmlformats.org/drawingml/2006/main">
              <a:ext uri="{FF2B5EF4-FFF2-40B4-BE49-F238E27FC236}">
                <a16:creationId xmlns:a16="http://schemas.microsoft.com/office/drawing/2014/main" id="{86793DB2-1D6B-414D-9C65-4CA3151C1A48}"/>
              </a:ext>
            </a:extLst>
          </p:cNvPr>
          <p:cNvSpPr>
            <a:spLocks xmlns:a="http://schemas.openxmlformats.org/drawingml/2006/main" noGrp="1"/>
          </p:cNvSpPr>
          <p:nvPr/>
        </p:nvSpPr>
        <p:spPr>
          <a:xfrm xmlns:a="http://schemas.openxmlformats.org/drawingml/2006/main">
            <a:off x="400050" y="3381375"/>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96273"/>
                </a:solidFill>
                <a:latin typeface="Helvetica Neue"/>
                <a:ea typeface="Helvetica Neue"/>
                <a:cs typeface="Helvetica Neue"/>
              </a:defRPr>
            </a:pPr>
            <a:r>
              <a:rPr sz="1500" b="0" i="0">
                <a:solidFill>
                  <a:srgbClr val="596273"/>
                </a:solidFill>
                <a:latin typeface="Helvetica Neue"/>
                <a:ea typeface="Helvetica Neue"/>
                <a:cs typeface="Helvetica Neue"/>
              </a:rPr>
              <a:t>The ray is treated as absorbed. No horizon surface is drawn; the dark region is a capture shadow.</a:t>
            </a:r>
          </a:p>
        </p:txBody>
      </p:sp>
      <p:sp>
        <p:nvSpPr>
          <p:cNvPr id="9" name="">
            <a:extLst xmlns:a="http://schemas.openxmlformats.org/drawingml/2006/main">
              <a:ext uri="{FF2B5EF4-FFF2-40B4-BE49-F238E27FC236}">
                <a16:creationId xmlns:a16="http://schemas.microsoft.com/office/drawing/2014/main" id="{C988E613-28C7-41F1-995B-D55A6518DBCC}"/>
              </a:ext>
            </a:extLst>
          </p:cNvPr>
          <p:cNvSpPr>
            <a:spLocks xmlns:a="http://schemas.openxmlformats.org/drawingml/2006/main" noGrp="1"/>
          </p:cNvSpPr>
          <p:nvPr/>
        </p:nvSpPr>
        <p:spPr>
          <a:xfrm xmlns:a="http://schemas.openxmlformats.org/drawingml/2006/main">
            <a:off x="4238625" y="1866900"/>
            <a:ext cx="3333750" cy="47625"/>
          </a:xfrm>
          <a:prstGeom xmlns:a="http://schemas.openxmlformats.org/drawingml/2006/main" prst="rect">
            <a:avLst/>
          </a:prstGeom>
          <a:solidFill xmlns:a="http://schemas.openxmlformats.org/drawingml/2006/main">
            <a:srgbClr val="5962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224980-2D3A-4EBB-A023-41FAD45358C1}"/>
              </a:ext>
            </a:extLst>
          </p:cNvPr>
          <p:cNvSpPr>
            <a:spLocks xmlns:a="http://schemas.openxmlformats.org/drawingml/2006/main" noGrp="1"/>
          </p:cNvSpPr>
          <p:nvPr/>
        </p:nvSpPr>
        <p:spPr>
          <a:xfrm xmlns:a="http://schemas.openxmlformats.org/drawingml/2006/main">
            <a:off x="4238625" y="209550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111827"/>
                </a:solidFill>
                <a:latin typeface="Helvetica Neue"/>
                <a:ea typeface="Helvetica Neue"/>
                <a:cs typeface="Helvetica Neue"/>
              </a:defRPr>
            </a:pPr>
            <a:r>
              <a:rPr sz="2400" b="1" i="0">
                <a:solidFill>
                  <a:srgbClr val="111827"/>
                </a:solidFill>
                <a:latin typeface="Helvetica Neue"/>
                <a:ea typeface="Helvetica Neue"/>
                <a:cs typeface="Helvetica Neue"/>
              </a:rPr>
              <a:t>Disk crossing</a:t>
            </a:r>
          </a:p>
        </p:txBody>
      </p:sp>
      <p:sp>
        <p:nvSpPr>
          <p:cNvPr id="11" name="">
            <a:extLst xmlns:a="http://schemas.openxmlformats.org/drawingml/2006/main">
              <a:ext uri="{FF2B5EF4-FFF2-40B4-BE49-F238E27FC236}">
                <a16:creationId xmlns:a16="http://schemas.microsoft.com/office/drawing/2014/main" id="{A998E7A4-C993-4221-8D11-4D2D310CC0C3}"/>
              </a:ext>
            </a:extLst>
          </p:cNvPr>
          <p:cNvSpPr>
            <a:spLocks xmlns:a="http://schemas.openxmlformats.org/drawingml/2006/main" noGrp="1"/>
          </p:cNvSpPr>
          <p:nvPr/>
        </p:nvSpPr>
        <p:spPr>
          <a:xfrm xmlns:a="http://schemas.openxmlformats.org/drawingml/2006/main">
            <a:off x="4238625" y="2743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9A5E18"/>
                </a:solidFill>
                <a:latin typeface="Menlo"/>
                <a:ea typeface="Menlo"/>
                <a:cs typeface="Menlo"/>
              </a:defRPr>
            </a:pPr>
            <a:r>
              <a:rPr sz="1800" b="1" i="0">
                <a:solidFill>
                  <a:srgbClr val="9A5E18"/>
                </a:solidFill>
                <a:latin typeface="Menlo"/>
                <a:ea typeface="Menlo"/>
                <a:cs typeface="Menlo"/>
              </a:rPr>
              <a:t>6M &lt; r &lt; 18M</a:t>
            </a:r>
          </a:p>
        </p:txBody>
      </p:sp>
      <p:sp>
        <p:nvSpPr>
          <p:cNvPr id="12" name="">
            <a:extLst xmlns:a="http://schemas.openxmlformats.org/drawingml/2006/main">
              <a:ext uri="{FF2B5EF4-FFF2-40B4-BE49-F238E27FC236}">
                <a16:creationId xmlns:a16="http://schemas.microsoft.com/office/drawing/2014/main" id="{63FB111C-9313-49AC-95DA-48413262938D}"/>
              </a:ext>
            </a:extLst>
          </p:cNvPr>
          <p:cNvSpPr>
            <a:spLocks xmlns:a="http://schemas.openxmlformats.org/drawingml/2006/main" noGrp="1"/>
          </p:cNvSpPr>
          <p:nvPr/>
        </p:nvSpPr>
        <p:spPr>
          <a:xfrm xmlns:a="http://schemas.openxmlformats.org/drawingml/2006/main">
            <a:off x="4238625" y="3381375"/>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96273"/>
                </a:solidFill>
                <a:latin typeface="Helvetica Neue"/>
                <a:ea typeface="Helvetica Neue"/>
                <a:cs typeface="Helvetica Neue"/>
              </a:defRPr>
            </a:pPr>
            <a:r>
              <a:rPr sz="1500" b="0" i="0">
                <a:solidFill>
                  <a:srgbClr val="596273"/>
                </a:solidFill>
                <a:latin typeface="Helvetica Neue"/>
                <a:ea typeface="Helvetica Neue"/>
                <a:cs typeface="Helvetica Neue"/>
              </a:rPr>
              <a:t>A y-plane sign change locates the crossing. Procedural disk emission is added, then transmittance falls.</a:t>
            </a:r>
          </a:p>
        </p:txBody>
      </p:sp>
      <p:sp>
        <p:nvSpPr>
          <p:cNvPr id="13" name="">
            <a:extLst xmlns:a="http://schemas.openxmlformats.org/drawingml/2006/main">
              <a:ext uri="{FF2B5EF4-FFF2-40B4-BE49-F238E27FC236}">
                <a16:creationId xmlns:a16="http://schemas.microsoft.com/office/drawing/2014/main" id="{77B124A1-3010-4488-9478-E115A5586B34}"/>
              </a:ext>
            </a:extLst>
          </p:cNvPr>
          <p:cNvSpPr>
            <a:spLocks xmlns:a="http://schemas.openxmlformats.org/drawingml/2006/main" noGrp="1"/>
          </p:cNvSpPr>
          <p:nvPr/>
        </p:nvSpPr>
        <p:spPr>
          <a:xfrm xmlns:a="http://schemas.openxmlformats.org/drawingml/2006/main">
            <a:off x="8077200" y="1866900"/>
            <a:ext cx="3333750" cy="47625"/>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04A51A-B905-4BD5-8F10-951BDCF8F038}"/>
              </a:ext>
            </a:extLst>
          </p:cNvPr>
          <p:cNvSpPr>
            <a:spLocks xmlns:a="http://schemas.openxmlformats.org/drawingml/2006/main" noGrp="1"/>
          </p:cNvSpPr>
          <p:nvPr/>
        </p:nvSpPr>
        <p:spPr>
          <a:xfrm xmlns:a="http://schemas.openxmlformats.org/drawingml/2006/main">
            <a:off x="8077200" y="209550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111827"/>
                </a:solidFill>
                <a:latin typeface="Helvetica Neue"/>
                <a:ea typeface="Helvetica Neue"/>
                <a:cs typeface="Helvetica Neue"/>
              </a:defRPr>
            </a:pPr>
            <a:r>
              <a:rPr sz="2400" b="1" i="0">
                <a:solidFill>
                  <a:srgbClr val="111827"/>
                </a:solidFill>
                <a:latin typeface="Helvetica Neue"/>
                <a:ea typeface="Helvetica Neue"/>
                <a:cs typeface="Helvetica Neue"/>
              </a:rPr>
              <a:t>Escape</a:t>
            </a:r>
          </a:p>
        </p:txBody>
      </p:sp>
      <p:sp>
        <p:nvSpPr>
          <p:cNvPr id="15" name="">
            <a:extLst xmlns:a="http://schemas.openxmlformats.org/drawingml/2006/main">
              <a:ext uri="{FF2B5EF4-FFF2-40B4-BE49-F238E27FC236}">
                <a16:creationId xmlns:a16="http://schemas.microsoft.com/office/drawing/2014/main" id="{647E8ECD-EA29-43CB-9E11-42B537C90676}"/>
              </a:ext>
            </a:extLst>
          </p:cNvPr>
          <p:cNvSpPr>
            <a:spLocks xmlns:a="http://schemas.openxmlformats.org/drawingml/2006/main" noGrp="1"/>
          </p:cNvSpPr>
          <p:nvPr/>
        </p:nvSpPr>
        <p:spPr>
          <a:xfrm xmlns:a="http://schemas.openxmlformats.org/drawingml/2006/main">
            <a:off x="8077200" y="2743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9A5E18"/>
                </a:solidFill>
                <a:latin typeface="Menlo"/>
                <a:ea typeface="Menlo"/>
                <a:cs typeface="Menlo"/>
              </a:defRPr>
            </a:pPr>
            <a:r>
              <a:rPr sz="1800" b="1" i="0">
                <a:solidFill>
                  <a:srgbClr val="9A5E18"/>
                </a:solidFill>
                <a:latin typeface="Menlo"/>
                <a:ea typeface="Menlo"/>
                <a:cs typeface="Menlo"/>
              </a:rPr>
              <a:t>r &gt; 70M</a:t>
            </a:r>
          </a:p>
        </p:txBody>
      </p:sp>
      <p:sp>
        <p:nvSpPr>
          <p:cNvPr id="16" name="">
            <a:extLst xmlns:a="http://schemas.openxmlformats.org/drawingml/2006/main">
              <a:ext uri="{FF2B5EF4-FFF2-40B4-BE49-F238E27FC236}">
                <a16:creationId xmlns:a16="http://schemas.microsoft.com/office/drawing/2014/main" id="{447C2946-330D-4804-8540-FD55B965179E}"/>
              </a:ext>
            </a:extLst>
          </p:cNvPr>
          <p:cNvSpPr>
            <a:spLocks xmlns:a="http://schemas.openxmlformats.org/drawingml/2006/main" noGrp="1"/>
          </p:cNvSpPr>
          <p:nvPr/>
        </p:nvSpPr>
        <p:spPr>
          <a:xfrm xmlns:a="http://schemas.openxmlformats.org/drawingml/2006/main">
            <a:off x="8077200" y="3381375"/>
            <a:ext cx="3286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96273"/>
                </a:solidFill>
                <a:latin typeface="Helvetica Neue"/>
                <a:ea typeface="Helvetica Neue"/>
                <a:cs typeface="Helvetica Neue"/>
              </a:defRPr>
            </a:pPr>
            <a:r>
              <a:rPr sz="1500" b="0" i="0">
                <a:solidFill>
                  <a:srgbClr val="596273"/>
                </a:solidFill>
                <a:latin typeface="Helvetica Neue"/>
                <a:ea typeface="Helvetica Neue"/>
                <a:cs typeface="Helvetica Neue"/>
              </a:rPr>
              <a:t>The ray samples the procedural star field in its final direction and terminates.</a:t>
            </a:r>
          </a:p>
        </p:txBody>
      </p:sp>
      <p:sp>
        <p:nvSpPr>
          <p:cNvPr id="17" name="">
            <a:extLst xmlns:a="http://schemas.openxmlformats.org/drawingml/2006/main">
              <a:ext uri="{FF2B5EF4-FFF2-40B4-BE49-F238E27FC236}">
                <a16:creationId xmlns:a16="http://schemas.microsoft.com/office/drawing/2014/main" id="{00CFDDA1-5549-4AF5-AD40-56B3C43277BC}"/>
              </a:ext>
            </a:extLst>
          </p:cNvPr>
          <p:cNvSpPr>
            <a:spLocks xmlns:a="http://schemas.openxmlformats.org/drawingml/2006/main" noGrp="1"/>
          </p:cNvSpPr>
          <p:nvPr/>
        </p:nvSpPr>
        <p:spPr>
          <a:xfrm xmlns:a="http://schemas.openxmlformats.org/drawingml/2006/main">
            <a:off x="3343275" y="5334000"/>
            <a:ext cx="5524500" cy="361950"/>
          </a:xfrm>
          <a:prstGeom xmlns:a="http://schemas.openxmlformats.org/drawingml/2006/main" prst="roundRect">
            <a:avLst>
              <a:gd name="adj" fmla="val 42105"/>
            </a:avLst>
          </a:prstGeom>
          <a:solidFill xmlns:a="http://schemas.openxmlformats.org/drawingml/2006/main">
            <a:srgbClr val="FAF4EA"/>
          </a:solidFill>
          <a:ln xmlns:a="http://schemas.openxmlformats.org/drawingml/2006/main" w="0">
            <a:noFill/>
            <a:prstDash val="solid"/>
          </a:ln>
        </p:spPr>
        <p:txBody>
          <a:bodyPr xmlns:a="http://schemas.openxmlformats.org/drawingml/2006/main" lIns="66675" tIns="28575" rIns="66675" bIns="28575" anchor="ctr">
            <a:normAutofit fontScale="100000"/>
          </a:bodyPr>
          <a:lstStyle xmlns:a="http://schemas.openxmlformats.org/drawingml/2006/main"/>
          <a:p xmlns:a="http://schemas.openxmlformats.org/drawingml/2006/main">
            <a:pPr algn="ctr">
              <a:defRPr sz="1050" b="1">
                <a:solidFill>
                  <a:srgbClr val="9A5E18"/>
                </a:solidFill>
                <a:latin typeface="Helvetica Neue"/>
                <a:ea typeface="Helvetica Neue"/>
                <a:cs typeface="Helvetica Neue"/>
              </a:defRPr>
            </a:pPr>
            <a:r>
              <a:rPr sz="1050" b="1">
                <a:solidFill>
                  <a:srgbClr val="9A5E18"/>
                </a:solidFill>
                <a:latin typeface="Helvetica Neue"/>
                <a:ea typeface="Helvetica Neue"/>
                <a:cs typeface="Helvetica Neue"/>
              </a:rPr>
              <a:t>MULTIPLE CROSSINGS CAN PRODUCE HIGHER-ORDER DISK IMAGES</a:t>
            </a:r>
          </a:p>
        </p:txBody>
      </p:sp>
    </p:spTree>
    <p:extLst>
      <p:ext uri="{BB962C8B-B14F-4D97-AF65-F5344CB8AC3E}">
        <p14:creationId xmlns:p14="http://schemas.microsoft.com/office/powerpoint/2010/main" val="3418869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6EA0676-AE9F-48DB-A2AA-A0D069F831F7}"/>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APPEARANCE</a:t>
            </a:r>
          </a:p>
        </p:txBody>
      </p:sp>
      <p:sp>
        <p:nvSpPr>
          <p:cNvPr id="2" name="">
            <a:extLst xmlns:a="http://schemas.openxmlformats.org/drawingml/2006/main">
              <a:ext uri="{FF2B5EF4-FFF2-40B4-BE49-F238E27FC236}">
                <a16:creationId xmlns:a16="http://schemas.microsoft.com/office/drawing/2014/main" id="{60D60E0D-533B-49D4-B9D6-876A2069E324}"/>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A thin disk is seen through strongly bent light</a:t>
            </a:r>
          </a:p>
        </p:txBody>
      </p:sp>
      <p:sp>
        <p:nvSpPr>
          <p:cNvPr id="3" name="">
            <a:extLst xmlns:a="http://schemas.openxmlformats.org/drawingml/2006/main">
              <a:ext uri="{FF2B5EF4-FFF2-40B4-BE49-F238E27FC236}">
                <a16:creationId xmlns:a16="http://schemas.microsoft.com/office/drawing/2014/main" id="{48C22EEA-32FA-4823-BCAC-5819577ED69D}"/>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1D963B7-EA88-4A79-8C5B-2E386B6E78DA}"/>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d405d1c58a34171"/>
          <a:srcRect xmlns:a="http://schemas.openxmlformats.org/drawingml/2006/main" l="0" t="12" r="0" b="12"/>
          <a:stretch xmlns:a="http://schemas.openxmlformats.org/drawingml/2006/main">
            <a:fillRect l="0" t="0" r="0" b="0"/>
          </a:stretch>
        </p:blipFill>
        <p:spPr>
          <a:xfrm xmlns:a="http://schemas.openxmlformats.org/drawingml/2006/main">
            <a:off x="400050" y="1466850"/>
            <a:ext cx="68580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D644FBB-1989-4525-A22F-EBE0E2811550}"/>
              </a:ext>
            </a:extLst>
          </p:cNvPr>
          <p:cNvSpPr>
            <a:spLocks xmlns:a="http://schemas.openxmlformats.org/drawingml/2006/main" noGrp="1"/>
          </p:cNvSpPr>
          <p:nvPr/>
        </p:nvSpPr>
        <p:spPr>
          <a:xfrm xmlns:a="http://schemas.openxmlformats.org/drawingml/2006/main">
            <a:off x="400050" y="1466850"/>
            <a:ext cx="6858000" cy="47625"/>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558FF9-3866-4648-BB54-1498014C2D25}"/>
              </a:ext>
            </a:extLst>
          </p:cNvPr>
          <p:cNvSpPr>
            <a:spLocks xmlns:a="http://schemas.openxmlformats.org/drawingml/2006/main" noGrp="1"/>
          </p:cNvSpPr>
          <p:nvPr/>
        </p:nvSpPr>
        <p:spPr>
          <a:xfrm xmlns:a="http://schemas.openxmlformats.org/drawingml/2006/main">
            <a:off x="7772400" y="15049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WHAT THE IMAGE IS SHOWING</a:t>
            </a:r>
          </a:p>
        </p:txBody>
      </p:sp>
      <p:sp>
        <p:nvSpPr>
          <p:cNvPr id="8" name="">
            <a:extLst xmlns:a="http://schemas.openxmlformats.org/drawingml/2006/main">
              <a:ext uri="{FF2B5EF4-FFF2-40B4-BE49-F238E27FC236}">
                <a16:creationId xmlns:a16="http://schemas.microsoft.com/office/drawing/2014/main" id="{5BFD2A88-AE4F-4406-B4A5-D409AD16C4FB}"/>
              </a:ext>
            </a:extLst>
          </p:cNvPr>
          <p:cNvSpPr>
            <a:spLocks xmlns:a="http://schemas.openxmlformats.org/drawingml/2006/main" noGrp="1"/>
          </p:cNvSpPr>
          <p:nvPr/>
        </p:nvSpPr>
        <p:spPr>
          <a:xfrm xmlns:a="http://schemas.openxmlformats.org/drawingml/2006/main">
            <a:off x="7772400" y="2000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609F298F-2A19-4A38-AF86-07CFEBA04980}"/>
              </a:ext>
            </a:extLst>
          </p:cNvPr>
          <p:cNvSpPr>
            <a:spLocks xmlns:a="http://schemas.openxmlformats.org/drawingml/2006/main" noGrp="1"/>
          </p:cNvSpPr>
          <p:nvPr/>
        </p:nvSpPr>
        <p:spPr>
          <a:xfrm xmlns:a="http://schemas.openxmlformats.org/drawingml/2006/main">
            <a:off x="8382000" y="2000250"/>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111827"/>
                </a:solidFill>
                <a:latin typeface="Helvetica Neue"/>
                <a:ea typeface="Helvetica Neue"/>
                <a:cs typeface="Helvetica Neue"/>
              </a:defRPr>
            </a:pPr>
            <a:r>
              <a:rPr sz="1650" b="1" i="0">
                <a:solidFill>
                  <a:srgbClr val="111827"/>
                </a:solidFill>
                <a:latin typeface="Helvetica Neue"/>
                <a:ea typeface="Helvetica Neue"/>
                <a:cs typeface="Helvetica Neue"/>
              </a:rPr>
              <a:t>Direct image</a:t>
            </a:r>
          </a:p>
        </p:txBody>
      </p:sp>
      <p:sp>
        <p:nvSpPr>
          <p:cNvPr id="10" name="">
            <a:extLst xmlns:a="http://schemas.openxmlformats.org/drawingml/2006/main">
              <a:ext uri="{FF2B5EF4-FFF2-40B4-BE49-F238E27FC236}">
                <a16:creationId xmlns:a16="http://schemas.microsoft.com/office/drawing/2014/main" id="{518D505F-8E3D-479F-8FBC-BF27C31C160A}"/>
              </a:ext>
            </a:extLst>
          </p:cNvPr>
          <p:cNvSpPr>
            <a:spLocks xmlns:a="http://schemas.openxmlformats.org/drawingml/2006/main" noGrp="1"/>
          </p:cNvSpPr>
          <p:nvPr/>
        </p:nvSpPr>
        <p:spPr>
          <a:xfrm xmlns:a="http://schemas.openxmlformats.org/drawingml/2006/main">
            <a:off x="8382000" y="2362200"/>
            <a:ext cx="29908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Nearby disk light reaches the camera after modest bending.</a:t>
            </a:r>
          </a:p>
        </p:txBody>
      </p:sp>
      <p:sp>
        <p:nvSpPr>
          <p:cNvPr id="11" name="">
            <a:extLst xmlns:a="http://schemas.openxmlformats.org/drawingml/2006/main">
              <a:ext uri="{FF2B5EF4-FFF2-40B4-BE49-F238E27FC236}">
                <a16:creationId xmlns:a16="http://schemas.microsoft.com/office/drawing/2014/main" id="{450CBF75-0949-4250-A4C2-0AC85A3419C6}"/>
              </a:ext>
            </a:extLst>
          </p:cNvPr>
          <p:cNvSpPr>
            <a:spLocks xmlns:a="http://schemas.openxmlformats.org/drawingml/2006/main" noGrp="1"/>
          </p:cNvSpPr>
          <p:nvPr/>
        </p:nvSpPr>
        <p:spPr>
          <a:xfrm xmlns:a="http://schemas.openxmlformats.org/drawingml/2006/main">
            <a:off x="777240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B7F52966-8DDE-4CB6-9922-B235ACA322E6}"/>
              </a:ext>
            </a:extLst>
          </p:cNvPr>
          <p:cNvSpPr>
            <a:spLocks xmlns:a="http://schemas.openxmlformats.org/drawingml/2006/main" noGrp="1"/>
          </p:cNvSpPr>
          <p:nvPr/>
        </p:nvSpPr>
        <p:spPr>
          <a:xfrm xmlns:a="http://schemas.openxmlformats.org/drawingml/2006/main">
            <a:off x="8382000" y="3143250"/>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111827"/>
                </a:solidFill>
                <a:latin typeface="Helvetica Neue"/>
                <a:ea typeface="Helvetica Neue"/>
                <a:cs typeface="Helvetica Neue"/>
              </a:defRPr>
            </a:pPr>
            <a:r>
              <a:rPr sz="1650" b="1" i="0">
                <a:solidFill>
                  <a:srgbClr val="111827"/>
                </a:solidFill>
                <a:latin typeface="Helvetica Neue"/>
                <a:ea typeface="Helvetica Neue"/>
                <a:cs typeface="Helvetica Neue"/>
              </a:rPr>
              <a:t>Higher-order images</a:t>
            </a:r>
          </a:p>
        </p:txBody>
      </p:sp>
      <p:sp>
        <p:nvSpPr>
          <p:cNvPr id="13" name="">
            <a:extLst xmlns:a="http://schemas.openxmlformats.org/drawingml/2006/main">
              <a:ext uri="{FF2B5EF4-FFF2-40B4-BE49-F238E27FC236}">
                <a16:creationId xmlns:a16="http://schemas.microsoft.com/office/drawing/2014/main" id="{7CE5FC76-3866-4A06-933B-802222755596}"/>
              </a:ext>
            </a:extLst>
          </p:cNvPr>
          <p:cNvSpPr>
            <a:spLocks xmlns:a="http://schemas.openxmlformats.org/drawingml/2006/main" noGrp="1"/>
          </p:cNvSpPr>
          <p:nvPr/>
        </p:nvSpPr>
        <p:spPr>
          <a:xfrm xmlns:a="http://schemas.openxmlformats.org/drawingml/2006/main">
            <a:off x="8382000" y="3505200"/>
            <a:ext cx="29908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Additional plane crossings form compressed arcs near the capture boundary.</a:t>
            </a:r>
          </a:p>
        </p:txBody>
      </p:sp>
      <p:sp>
        <p:nvSpPr>
          <p:cNvPr id="14" name="">
            <a:extLst xmlns:a="http://schemas.openxmlformats.org/drawingml/2006/main">
              <a:ext uri="{FF2B5EF4-FFF2-40B4-BE49-F238E27FC236}">
                <a16:creationId xmlns:a16="http://schemas.microsoft.com/office/drawing/2014/main" id="{FB298C50-2442-483E-80DA-733942FDA213}"/>
              </a:ext>
            </a:extLst>
          </p:cNvPr>
          <p:cNvSpPr>
            <a:spLocks xmlns:a="http://schemas.openxmlformats.org/drawingml/2006/main" noGrp="1"/>
          </p:cNvSpPr>
          <p:nvPr/>
        </p:nvSpPr>
        <p:spPr>
          <a:xfrm xmlns:a="http://schemas.openxmlformats.org/drawingml/2006/main">
            <a:off x="7772400" y="4286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E9F6A026-4EF3-4621-9A98-9B4033DE2EBE}"/>
              </a:ext>
            </a:extLst>
          </p:cNvPr>
          <p:cNvSpPr>
            <a:spLocks xmlns:a="http://schemas.openxmlformats.org/drawingml/2006/main" noGrp="1"/>
          </p:cNvSpPr>
          <p:nvPr/>
        </p:nvSpPr>
        <p:spPr>
          <a:xfrm xmlns:a="http://schemas.openxmlformats.org/drawingml/2006/main">
            <a:off x="8382000" y="4286250"/>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111827"/>
                </a:solidFill>
                <a:latin typeface="Helvetica Neue"/>
                <a:ea typeface="Helvetica Neue"/>
                <a:cs typeface="Helvetica Neue"/>
              </a:defRPr>
            </a:pPr>
            <a:r>
              <a:rPr sz="1650" b="1" i="0">
                <a:solidFill>
                  <a:srgbClr val="111827"/>
                </a:solidFill>
                <a:latin typeface="Helvetica Neue"/>
                <a:ea typeface="Helvetica Neue"/>
                <a:cs typeface="Helvetica Neue"/>
              </a:rPr>
              <a:t>Central shadow</a:t>
            </a:r>
          </a:p>
        </p:txBody>
      </p:sp>
      <p:sp>
        <p:nvSpPr>
          <p:cNvPr id="16" name="">
            <a:extLst xmlns:a="http://schemas.openxmlformats.org/drawingml/2006/main">
              <a:ext uri="{FF2B5EF4-FFF2-40B4-BE49-F238E27FC236}">
                <a16:creationId xmlns:a16="http://schemas.microsoft.com/office/drawing/2014/main" id="{113F7206-7CC4-4D67-AA10-50EF46843315}"/>
              </a:ext>
            </a:extLst>
          </p:cNvPr>
          <p:cNvSpPr>
            <a:spLocks xmlns:a="http://schemas.openxmlformats.org/drawingml/2006/main" noGrp="1"/>
          </p:cNvSpPr>
          <p:nvPr/>
        </p:nvSpPr>
        <p:spPr>
          <a:xfrm xmlns:a="http://schemas.openxmlformats.org/drawingml/2006/main">
            <a:off x="8382000" y="4648200"/>
            <a:ext cx="29908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Directions whose rays are captured do not reach the background star field.</a:t>
            </a:r>
          </a:p>
        </p:txBody>
      </p:sp>
      <p:sp>
        <p:nvSpPr>
          <p:cNvPr id="17" name="">
            <a:extLst xmlns:a="http://schemas.openxmlformats.org/drawingml/2006/main">
              <a:ext uri="{FF2B5EF4-FFF2-40B4-BE49-F238E27FC236}">
                <a16:creationId xmlns:a16="http://schemas.microsoft.com/office/drawing/2014/main" id="{5406DF70-7C1F-4039-8F8F-3E2C5CAC415A}"/>
              </a:ext>
            </a:extLst>
          </p:cNvPr>
          <p:cNvSpPr>
            <a:spLocks xmlns:a="http://schemas.openxmlformats.org/drawingml/2006/main" noGrp="1"/>
          </p:cNvSpPr>
          <p:nvPr/>
        </p:nvSpPr>
        <p:spPr>
          <a:xfrm xmlns:a="http://schemas.openxmlformats.org/drawingml/2006/main">
            <a:off x="7772400" y="5391150"/>
            <a:ext cx="3476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1">
                <a:solidFill>
                  <a:srgbClr val="9E3B3B"/>
                </a:solidFill>
                <a:latin typeface="Helvetica Neue"/>
                <a:ea typeface="Helvetica Neue"/>
                <a:cs typeface="Helvetica Neue"/>
              </a:defRPr>
            </a:pPr>
            <a:r>
              <a:rPr sz="1200" b="0" i="1">
                <a:solidFill>
                  <a:srgbClr val="9E3B3B"/>
                </a:solidFill>
                <a:latin typeface="Helvetica Neue"/>
                <a:ea typeface="Helvetica Neue"/>
                <a:cs typeface="Helvetica Neue"/>
              </a:rPr>
              <a:t>The current disk is optically stylized: it is not a fluid simulation or calibrated radiative-transfer model.</a:t>
            </a:r>
          </a:p>
        </p:txBody>
      </p:sp>
    </p:spTree>
    <p:extLst>
      <p:ext uri="{BB962C8B-B14F-4D97-AF65-F5344CB8AC3E}">
        <p14:creationId xmlns:p14="http://schemas.microsoft.com/office/powerpoint/2010/main" val="273213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E38572-1AC0-43BD-BEA9-42E899A84D0F}"/>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48C641A9-16A6-4EB7-BB87-9E0AC605C3C1}"/>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WebGL2 makes the geodesic solver interactive</a:t>
            </a:r>
          </a:p>
        </p:txBody>
      </p:sp>
      <p:sp>
        <p:nvSpPr>
          <p:cNvPr id="3" name="">
            <a:extLst xmlns:a="http://schemas.openxmlformats.org/drawingml/2006/main">
              <a:ext uri="{FF2B5EF4-FFF2-40B4-BE49-F238E27FC236}">
                <a16:creationId xmlns:a16="http://schemas.microsoft.com/office/drawing/2014/main" id="{45FABD78-59B9-447E-A3BD-0E3CF9834ACC}"/>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6688E1B-A0F1-4444-9288-53C11E99C91B}"/>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169E74-CAFF-407F-BCE7-85761A294C3F}"/>
              </a:ext>
            </a:extLst>
          </p:cNvPr>
          <p:cNvSpPr>
            <a:spLocks xmlns:a="http://schemas.openxmlformats.org/drawingml/2006/main" noGrp="1"/>
          </p:cNvSpPr>
          <p:nvPr/>
        </p:nvSpPr>
        <p:spPr>
          <a:xfrm xmlns:a="http://schemas.openxmlformats.org/drawingml/2006/main">
            <a:off x="400050" y="1600200"/>
            <a:ext cx="11391900" cy="1000125"/>
          </a:xfrm>
          <a:prstGeom xmlns:a="http://schemas.openxmlformats.org/drawingml/2006/main" prst="rect">
            <a:avLst/>
          </a:prstGeom>
          <a:solidFill xmlns:a="http://schemas.openxmlformats.org/drawingml/2006/main">
            <a:srgbClr val="F2F3F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D40064-1A33-49D5-A85E-641093B8AE2D}"/>
              </a:ext>
            </a:extLst>
          </p:cNvPr>
          <p:cNvSpPr>
            <a:spLocks xmlns:a="http://schemas.openxmlformats.org/drawingml/2006/main" noGrp="1"/>
          </p:cNvSpPr>
          <p:nvPr/>
        </p:nvSpPr>
        <p:spPr>
          <a:xfrm xmlns:a="http://schemas.openxmlformats.org/drawingml/2006/main">
            <a:off x="647700" y="18192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JavaScript host</a:t>
            </a:r>
          </a:p>
        </p:txBody>
      </p:sp>
      <p:sp>
        <p:nvSpPr>
          <p:cNvPr id="7" name="">
            <a:extLst xmlns:a="http://schemas.openxmlformats.org/drawingml/2006/main">
              <a:ext uri="{FF2B5EF4-FFF2-40B4-BE49-F238E27FC236}">
                <a16:creationId xmlns:a16="http://schemas.microsoft.com/office/drawing/2014/main" id="{F8EB8F4B-31BB-494E-BC57-CECA2EDAF6A8}"/>
              </a:ext>
            </a:extLst>
          </p:cNvPr>
          <p:cNvSpPr>
            <a:spLocks xmlns:a="http://schemas.openxmlformats.org/drawingml/2006/main" noGrp="1"/>
          </p:cNvSpPr>
          <p:nvPr/>
        </p:nvSpPr>
        <p:spPr>
          <a:xfrm xmlns:a="http://schemas.openxmlformats.org/drawingml/2006/main">
            <a:off x="3352800" y="1838325"/>
            <a:ext cx="647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Load and compile shaders · update camera uniforms · draw every animation frame</a:t>
            </a:r>
          </a:p>
        </p:txBody>
      </p:sp>
      <p:sp>
        <p:nvSpPr>
          <p:cNvPr id="8" name="">
            <a:extLst xmlns:a="http://schemas.openxmlformats.org/drawingml/2006/main">
              <a:ext uri="{FF2B5EF4-FFF2-40B4-BE49-F238E27FC236}">
                <a16:creationId xmlns:a16="http://schemas.microsoft.com/office/drawing/2014/main" id="{ADD3E236-5352-4CC7-AF0F-3389E56AA25F}"/>
              </a:ext>
            </a:extLst>
          </p:cNvPr>
          <p:cNvSpPr>
            <a:spLocks xmlns:a="http://schemas.openxmlformats.org/drawingml/2006/main" noGrp="1"/>
          </p:cNvSpPr>
          <p:nvPr/>
        </p:nvSpPr>
        <p:spPr>
          <a:xfrm xmlns:a="http://schemas.openxmlformats.org/drawingml/2006/main">
            <a:off x="10210800" y="1924050"/>
            <a:ext cx="131445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txBody>
          <a:bodyPr xmlns:a="http://schemas.openxmlformats.org/drawingml/2006/main" lIns="66675" tIns="28575" rIns="66675" bIns="28575" anchor="ctr">
            <a:normAutofit fontScale="98973"/>
          </a:bodyPr>
          <a:lstStyle xmlns:a="http://schemas.openxmlformats.org/drawingml/2006/main"/>
          <a:p xmlns:a="http://schemas.openxmlformats.org/drawingml/2006/main">
            <a:pPr algn="ctr">
              <a:defRPr sz="1050" b="1">
                <a:solidFill>
                  <a:srgbClr val="111827"/>
                </a:solidFill>
                <a:latin typeface="Helvetica Neue"/>
                <a:ea typeface="Helvetica Neue"/>
                <a:cs typeface="Helvetica Neue"/>
              </a:defRPr>
            </a:pPr>
            <a:r>
              <a:rPr sz="1050" b="1">
                <a:solidFill>
                  <a:srgbClr val="111827"/>
                </a:solidFill>
                <a:latin typeface="Helvetica Neue"/>
                <a:ea typeface="Helvetica Neue"/>
                <a:cs typeface="Helvetica Neue"/>
              </a:rPr>
              <a:t>main.js</a:t>
            </a:r>
          </a:p>
        </p:txBody>
      </p:sp>
      <p:sp>
        <p:nvSpPr>
          <p:cNvPr id="9" name="">
            <a:extLst xmlns:a="http://schemas.openxmlformats.org/drawingml/2006/main">
              <a:ext uri="{FF2B5EF4-FFF2-40B4-BE49-F238E27FC236}">
                <a16:creationId xmlns:a16="http://schemas.microsoft.com/office/drawing/2014/main" id="{038995EC-9DCE-4599-B01F-D8A9748CE403}"/>
              </a:ext>
            </a:extLst>
          </p:cNvPr>
          <p:cNvSpPr>
            <a:spLocks xmlns:a="http://schemas.openxmlformats.org/drawingml/2006/main" noGrp="1"/>
          </p:cNvSpPr>
          <p:nvPr/>
        </p:nvSpPr>
        <p:spPr>
          <a:xfrm xmlns:a="http://schemas.openxmlformats.org/drawingml/2006/main">
            <a:off x="5981700" y="2705100"/>
            <a:ext cx="26670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D06C13-068F-4B28-AA64-78729EFD8976}"/>
              </a:ext>
            </a:extLst>
          </p:cNvPr>
          <p:cNvSpPr>
            <a:spLocks xmlns:a="http://schemas.openxmlformats.org/drawingml/2006/main" noGrp="1"/>
          </p:cNvSpPr>
          <p:nvPr/>
        </p:nvSpPr>
        <p:spPr>
          <a:xfrm xmlns:a="http://schemas.openxmlformats.org/drawingml/2006/main" rot="5400000">
            <a:off x="6229350" y="2628900"/>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087B88-83BD-4F15-90F8-E51B306BED94}"/>
              </a:ext>
            </a:extLst>
          </p:cNvPr>
          <p:cNvSpPr>
            <a:spLocks xmlns:a="http://schemas.openxmlformats.org/drawingml/2006/main" noGrp="1"/>
          </p:cNvSpPr>
          <p:nvPr/>
        </p:nvSpPr>
        <p:spPr>
          <a:xfrm xmlns:a="http://schemas.openxmlformats.org/drawingml/2006/main">
            <a:off x="400050" y="2876550"/>
            <a:ext cx="11391900" cy="1000125"/>
          </a:xfrm>
          <a:prstGeom xmlns:a="http://schemas.openxmlformats.org/drawingml/2006/main" prst="rect">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B283A1-7DAD-42E4-B99A-E51662362CF6}"/>
              </a:ext>
            </a:extLst>
          </p:cNvPr>
          <p:cNvSpPr>
            <a:spLocks xmlns:a="http://schemas.openxmlformats.org/drawingml/2006/main" noGrp="1"/>
          </p:cNvSpPr>
          <p:nvPr/>
        </p:nvSpPr>
        <p:spPr>
          <a:xfrm xmlns:a="http://schemas.openxmlformats.org/drawingml/2006/main">
            <a:off x="647700" y="30956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Full-screen triangle</a:t>
            </a:r>
          </a:p>
        </p:txBody>
      </p:sp>
      <p:sp>
        <p:nvSpPr>
          <p:cNvPr id="13" name="">
            <a:extLst xmlns:a="http://schemas.openxmlformats.org/drawingml/2006/main">
              <a:ext uri="{FF2B5EF4-FFF2-40B4-BE49-F238E27FC236}">
                <a16:creationId xmlns:a16="http://schemas.microsoft.com/office/drawing/2014/main" id="{EBEDE06D-0106-4319-95A0-888608C50F3A}"/>
              </a:ext>
            </a:extLst>
          </p:cNvPr>
          <p:cNvSpPr>
            <a:spLocks xmlns:a="http://schemas.openxmlformats.org/drawingml/2006/main" noGrp="1"/>
          </p:cNvSpPr>
          <p:nvPr/>
        </p:nvSpPr>
        <p:spPr>
          <a:xfrm xmlns:a="http://schemas.openxmlformats.org/drawingml/2006/main">
            <a:off x="3352800" y="3114675"/>
            <a:ext cx="647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Generate three clip-space vertices from gl_VertexID — no model mesh required</a:t>
            </a:r>
          </a:p>
        </p:txBody>
      </p:sp>
      <p:sp>
        <p:nvSpPr>
          <p:cNvPr id="14" name="">
            <a:extLst xmlns:a="http://schemas.openxmlformats.org/drawingml/2006/main">
              <a:ext uri="{FF2B5EF4-FFF2-40B4-BE49-F238E27FC236}">
                <a16:creationId xmlns:a16="http://schemas.microsoft.com/office/drawing/2014/main" id="{28EF9D7E-D718-4AF5-83D3-35DC4F54D596}"/>
              </a:ext>
            </a:extLst>
          </p:cNvPr>
          <p:cNvSpPr>
            <a:spLocks xmlns:a="http://schemas.openxmlformats.org/drawingml/2006/main" noGrp="1"/>
          </p:cNvSpPr>
          <p:nvPr/>
        </p:nvSpPr>
        <p:spPr>
          <a:xfrm xmlns:a="http://schemas.openxmlformats.org/drawingml/2006/main">
            <a:off x="10210800" y="3200400"/>
            <a:ext cx="131445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txBody>
          <a:bodyPr xmlns:a="http://schemas.openxmlformats.org/drawingml/2006/main" lIns="66675" tIns="28575" rIns="66675" bIns="28575" anchor="ctr">
            <a:normAutofit fontScale="98973"/>
          </a:bodyPr>
          <a:lstStyle xmlns:a="http://schemas.openxmlformats.org/drawingml/2006/main"/>
          <a:p xmlns:a="http://schemas.openxmlformats.org/drawingml/2006/main">
            <a:pPr algn="ctr">
              <a:defRPr sz="1050" b="1">
                <a:solidFill>
                  <a:srgbClr val="111827"/>
                </a:solidFill>
                <a:latin typeface="Helvetica Neue"/>
                <a:ea typeface="Helvetica Neue"/>
                <a:cs typeface="Helvetica Neue"/>
              </a:defRPr>
            </a:pPr>
            <a:r>
              <a:rPr sz="1050" b="1">
                <a:solidFill>
                  <a:srgbClr val="111827"/>
                </a:solidFill>
                <a:latin typeface="Helvetica Neue"/>
                <a:ea typeface="Helvetica Neue"/>
                <a:cs typeface="Helvetica Neue"/>
              </a:rPr>
              <a:t>vertex.glsl</a:t>
            </a:r>
          </a:p>
        </p:txBody>
      </p:sp>
      <p:sp>
        <p:nvSpPr>
          <p:cNvPr id="15" name="">
            <a:extLst xmlns:a="http://schemas.openxmlformats.org/drawingml/2006/main">
              <a:ext uri="{FF2B5EF4-FFF2-40B4-BE49-F238E27FC236}">
                <a16:creationId xmlns:a16="http://schemas.microsoft.com/office/drawing/2014/main" id="{298B0579-76F8-41C4-BB30-2784E180BD6E}"/>
              </a:ext>
            </a:extLst>
          </p:cNvPr>
          <p:cNvSpPr>
            <a:spLocks xmlns:a="http://schemas.openxmlformats.org/drawingml/2006/main" noGrp="1"/>
          </p:cNvSpPr>
          <p:nvPr/>
        </p:nvSpPr>
        <p:spPr>
          <a:xfrm xmlns:a="http://schemas.openxmlformats.org/drawingml/2006/main">
            <a:off x="5981700" y="3981450"/>
            <a:ext cx="266700" cy="1905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486ADD-8DAE-402E-8B7E-C50818B8893D}"/>
              </a:ext>
            </a:extLst>
          </p:cNvPr>
          <p:cNvSpPr>
            <a:spLocks xmlns:a="http://schemas.openxmlformats.org/drawingml/2006/main" noGrp="1"/>
          </p:cNvSpPr>
          <p:nvPr/>
        </p:nvSpPr>
        <p:spPr>
          <a:xfrm xmlns:a="http://schemas.openxmlformats.org/drawingml/2006/main" rot="5400000">
            <a:off x="6229350" y="3905250"/>
            <a:ext cx="142875" cy="171450"/>
          </a:xfrm>
          <a:prstGeom xmlns:a="http://schemas.openxmlformats.org/drawingml/2006/main" prst="triangle">
            <a:avLst/>
          </a:prstGeom>
          <a:solidFill xmlns:a="http://schemas.openxmlformats.org/drawingml/2006/main">
            <a:srgbClr val="E0A4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DE3FC6-1D22-41DF-B89F-C04E841AF606}"/>
              </a:ext>
            </a:extLst>
          </p:cNvPr>
          <p:cNvSpPr>
            <a:spLocks xmlns:a="http://schemas.openxmlformats.org/drawingml/2006/main" noGrp="1"/>
          </p:cNvSpPr>
          <p:nvPr/>
        </p:nvSpPr>
        <p:spPr>
          <a:xfrm xmlns:a="http://schemas.openxmlformats.org/drawingml/2006/main">
            <a:off x="400050" y="4152900"/>
            <a:ext cx="11391900" cy="1000125"/>
          </a:xfrm>
          <a:prstGeom xmlns:a="http://schemas.openxmlformats.org/drawingml/2006/main" prst="rect">
            <a:avLst/>
          </a:prstGeom>
          <a:solidFill xmlns:a="http://schemas.openxmlformats.org/drawingml/2006/main">
            <a:srgbClr val="FAF4E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B5EF97F-A5F2-4181-875A-FFC8416A0088}"/>
              </a:ext>
            </a:extLst>
          </p:cNvPr>
          <p:cNvSpPr>
            <a:spLocks xmlns:a="http://schemas.openxmlformats.org/drawingml/2006/main" noGrp="1"/>
          </p:cNvSpPr>
          <p:nvPr/>
        </p:nvSpPr>
        <p:spPr>
          <a:xfrm xmlns:a="http://schemas.openxmlformats.org/drawingml/2006/main">
            <a:off x="647700" y="43719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Fragment shader</a:t>
            </a:r>
          </a:p>
        </p:txBody>
      </p:sp>
      <p:sp>
        <p:nvSpPr>
          <p:cNvPr id="19" name="">
            <a:extLst xmlns:a="http://schemas.openxmlformats.org/drawingml/2006/main">
              <a:ext uri="{FF2B5EF4-FFF2-40B4-BE49-F238E27FC236}">
                <a16:creationId xmlns:a16="http://schemas.microsoft.com/office/drawing/2014/main" id="{70D4524D-180D-4B02-BAC3-2252EA78A83D}"/>
              </a:ext>
            </a:extLst>
          </p:cNvPr>
          <p:cNvSpPr>
            <a:spLocks xmlns:a="http://schemas.openxmlformats.org/drawingml/2006/main" noGrp="1"/>
          </p:cNvSpPr>
          <p:nvPr/>
        </p:nvSpPr>
        <p:spPr>
          <a:xfrm xmlns:a="http://schemas.openxmlformats.org/drawingml/2006/main">
            <a:off x="3352800" y="4391025"/>
            <a:ext cx="647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Construct a ray · integrate up to 260 steps · shade each output pixel</a:t>
            </a:r>
          </a:p>
        </p:txBody>
      </p:sp>
      <p:sp>
        <p:nvSpPr>
          <p:cNvPr id="20" name="">
            <a:extLst xmlns:a="http://schemas.openxmlformats.org/drawingml/2006/main">
              <a:ext uri="{FF2B5EF4-FFF2-40B4-BE49-F238E27FC236}">
                <a16:creationId xmlns:a16="http://schemas.microsoft.com/office/drawing/2014/main" id="{5391BB23-D213-423E-8573-EE99A3C8E26B}"/>
              </a:ext>
            </a:extLst>
          </p:cNvPr>
          <p:cNvSpPr>
            <a:spLocks xmlns:a="http://schemas.openxmlformats.org/drawingml/2006/main" noGrp="1"/>
          </p:cNvSpPr>
          <p:nvPr/>
        </p:nvSpPr>
        <p:spPr>
          <a:xfrm xmlns:a="http://schemas.openxmlformats.org/drawingml/2006/main">
            <a:off x="10210800" y="4476750"/>
            <a:ext cx="131445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txBody>
          <a:bodyPr xmlns:a="http://schemas.openxmlformats.org/drawingml/2006/main" lIns="66675" tIns="28575" rIns="66675" bIns="28575" anchor="ctr">
            <a:normAutofit fontScale="98973"/>
          </a:bodyPr>
          <a:lstStyle xmlns:a="http://schemas.openxmlformats.org/drawingml/2006/main"/>
          <a:p xmlns:a="http://schemas.openxmlformats.org/drawingml/2006/main">
            <a:pPr algn="ctr">
              <a:defRPr sz="1050" b="1">
                <a:solidFill>
                  <a:srgbClr val="111827"/>
                </a:solidFill>
                <a:latin typeface="Helvetica Neue"/>
                <a:ea typeface="Helvetica Neue"/>
                <a:cs typeface="Helvetica Neue"/>
              </a:defRPr>
            </a:pPr>
            <a:r>
              <a:rPr sz="1050" b="1">
                <a:solidFill>
                  <a:srgbClr val="111827"/>
                </a:solidFill>
                <a:latin typeface="Helvetica Neue"/>
                <a:ea typeface="Helvetica Neue"/>
                <a:cs typeface="Helvetica Neue"/>
              </a:rPr>
              <a:t>fragment.glsl</a:t>
            </a:r>
          </a:p>
        </p:txBody>
      </p:sp>
      <p:sp>
        <p:nvSpPr>
          <p:cNvPr id="21" name="">
            <a:extLst xmlns:a="http://schemas.openxmlformats.org/drawingml/2006/main">
              <a:ext uri="{FF2B5EF4-FFF2-40B4-BE49-F238E27FC236}">
                <a16:creationId xmlns:a16="http://schemas.microsoft.com/office/drawing/2014/main" id="{7156BE7B-9899-4751-AFB8-00A482E0E112}"/>
              </a:ext>
            </a:extLst>
          </p:cNvPr>
          <p:cNvSpPr>
            <a:spLocks xmlns:a="http://schemas.openxmlformats.org/drawingml/2006/main" noGrp="1"/>
          </p:cNvSpPr>
          <p:nvPr/>
        </p:nvSpPr>
        <p:spPr>
          <a:xfrm xmlns:a="http://schemas.openxmlformats.org/drawingml/2006/main">
            <a:off x="400050" y="5562600"/>
            <a:ext cx="3857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11827"/>
                </a:solidFill>
                <a:latin typeface="Helvetica Neue"/>
                <a:ea typeface="Helvetica Neue"/>
                <a:cs typeface="Helvetica Neue"/>
              </a:defRPr>
            </a:pPr>
            <a:r>
              <a:rPr sz="1500" b="1" i="0">
                <a:solidFill>
                  <a:srgbClr val="111827"/>
                </a:solidFill>
                <a:latin typeface="Helvetica Neue"/>
                <a:ea typeface="Helvetica Neue"/>
                <a:cs typeface="Helvetica Neue"/>
              </a:rPr>
              <a:t>Interaction stays outside the math core</a:t>
            </a:r>
          </a:p>
        </p:txBody>
      </p:sp>
      <p:sp>
        <p:nvSpPr>
          <p:cNvPr id="22" name="">
            <a:extLst xmlns:a="http://schemas.openxmlformats.org/drawingml/2006/main">
              <a:ext uri="{FF2B5EF4-FFF2-40B4-BE49-F238E27FC236}">
                <a16:creationId xmlns:a16="http://schemas.microsoft.com/office/drawing/2014/main" id="{E1A32624-BE9C-4586-9786-51FBCDA48F84}"/>
              </a:ext>
            </a:extLst>
          </p:cNvPr>
          <p:cNvSpPr>
            <a:spLocks xmlns:a="http://schemas.openxmlformats.org/drawingml/2006/main" noGrp="1"/>
          </p:cNvSpPr>
          <p:nvPr/>
        </p:nvSpPr>
        <p:spPr>
          <a:xfrm xmlns:a="http://schemas.openxmlformats.org/drawingml/2006/main">
            <a:off x="4429125" y="55626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Pointer orbit, inertia, wheel zoom, and resize only change the camera uniforms.</a:t>
            </a:r>
          </a:p>
        </p:txBody>
      </p:sp>
    </p:spTree>
    <p:extLst>
      <p:ext uri="{BB962C8B-B14F-4D97-AF65-F5344CB8AC3E}">
        <p14:creationId xmlns:p14="http://schemas.microsoft.com/office/powerpoint/2010/main" val="2853946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8DF2CE-C021-4731-8FA6-E423E45CBD07}"/>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INTERPRETATION</a:t>
            </a:r>
          </a:p>
        </p:txBody>
      </p:sp>
      <p:sp>
        <p:nvSpPr>
          <p:cNvPr id="2" name="">
            <a:extLst xmlns:a="http://schemas.openxmlformats.org/drawingml/2006/main">
              <a:ext uri="{FF2B5EF4-FFF2-40B4-BE49-F238E27FC236}">
                <a16:creationId xmlns:a16="http://schemas.microsoft.com/office/drawing/2014/main" id="{74FC86A1-858E-48D4-A7D8-B1B1953C16F7}"/>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Physical ray paths, illustrative emission</a:t>
            </a:r>
          </a:p>
        </p:txBody>
      </p:sp>
      <p:sp>
        <p:nvSpPr>
          <p:cNvPr id="3" name="">
            <a:extLst xmlns:a="http://schemas.openxmlformats.org/drawingml/2006/main">
              <a:ext uri="{FF2B5EF4-FFF2-40B4-BE49-F238E27FC236}">
                <a16:creationId xmlns:a16="http://schemas.microsoft.com/office/drawing/2014/main" id="{68AB6915-8DA0-423A-A985-9F404F60098E}"/>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B2D94C92-012A-4564-A1C5-C8091CACCFC9}"/>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AFBCA7-9039-4F66-BA93-03774A324D71}"/>
              </a:ext>
            </a:extLst>
          </p:cNvPr>
          <p:cNvSpPr>
            <a:spLocks xmlns:a="http://schemas.openxmlformats.org/drawingml/2006/main" noGrp="1"/>
          </p:cNvSpPr>
          <p:nvPr/>
        </p:nvSpPr>
        <p:spPr>
          <a:xfrm xmlns:a="http://schemas.openxmlformats.org/drawingml/2006/main">
            <a:off x="400050" y="15430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9A5E18"/>
                </a:solidFill>
                <a:latin typeface="Helvetica Neue"/>
                <a:ea typeface="Helvetica Neue"/>
                <a:cs typeface="Helvetica Neue"/>
              </a:defRPr>
            </a:pPr>
            <a:r>
              <a:rPr sz="1125" b="1" i="0">
                <a:solidFill>
                  <a:srgbClr val="9A5E18"/>
                </a:solidFill>
                <a:latin typeface="Helvetica Neue"/>
                <a:ea typeface="Helvetica Neue"/>
                <a:cs typeface="Helvetica Neue"/>
              </a:rPr>
              <a:t>PHYSICS-BASED CORE</a:t>
            </a:r>
          </a:p>
        </p:txBody>
      </p:sp>
      <p:sp>
        <p:nvSpPr>
          <p:cNvPr id="6" name="">
            <a:extLst xmlns:a="http://schemas.openxmlformats.org/drawingml/2006/main">
              <a:ext uri="{FF2B5EF4-FFF2-40B4-BE49-F238E27FC236}">
                <a16:creationId xmlns:a16="http://schemas.microsoft.com/office/drawing/2014/main" id="{9B427FA0-8132-456F-B946-448712655E32}"/>
              </a:ext>
            </a:extLst>
          </p:cNvPr>
          <p:cNvSpPr>
            <a:spLocks xmlns:a="http://schemas.openxmlformats.org/drawingml/2006/main" noGrp="1"/>
          </p:cNvSpPr>
          <p:nvPr/>
        </p:nvSpPr>
        <p:spPr>
          <a:xfrm xmlns:a="http://schemas.openxmlformats.org/drawingml/2006/main">
            <a:off x="400050" y="19431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What can be read literally</a:t>
            </a:r>
          </a:p>
        </p:txBody>
      </p:sp>
      <p:sp>
        <p:nvSpPr>
          <p:cNvPr id="7" name="">
            <a:extLst xmlns:a="http://schemas.openxmlformats.org/drawingml/2006/main">
              <a:ext uri="{FF2B5EF4-FFF2-40B4-BE49-F238E27FC236}">
                <a16:creationId xmlns:a16="http://schemas.microsoft.com/office/drawing/2014/main" id="{04D644B1-CE01-44A7-B275-E9B9CB083D27}"/>
              </a:ext>
            </a:extLst>
          </p:cNvPr>
          <p:cNvSpPr>
            <a:spLocks xmlns:a="http://schemas.openxmlformats.org/drawingml/2006/main" noGrp="1"/>
          </p:cNvSpPr>
          <p:nvPr/>
        </p:nvSpPr>
        <p:spPr>
          <a:xfrm xmlns:a="http://schemas.openxmlformats.org/drawingml/2006/main">
            <a:off x="400050" y="2676525"/>
            <a:ext cx="457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Schwarzschild landmark radii</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Null-geodesic bending and capture</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Multiple disk-plane crossings</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Interactive changes in viewing geometry</a:t>
            </a:r>
          </a:p>
        </p:txBody>
      </p:sp>
      <p:sp>
        <p:nvSpPr>
          <p:cNvPr id="8" name="">
            <a:extLst xmlns:a="http://schemas.openxmlformats.org/drawingml/2006/main">
              <a:ext uri="{FF2B5EF4-FFF2-40B4-BE49-F238E27FC236}">
                <a16:creationId xmlns:a16="http://schemas.microsoft.com/office/drawing/2014/main" id="{9FE29173-8F89-4F74-8B44-4486017F60C5}"/>
              </a:ext>
            </a:extLst>
          </p:cNvPr>
          <p:cNvSpPr>
            <a:spLocks xmlns:a="http://schemas.openxmlformats.org/drawingml/2006/main" noGrp="1"/>
          </p:cNvSpPr>
          <p:nvPr/>
        </p:nvSpPr>
        <p:spPr>
          <a:xfrm xmlns:a="http://schemas.openxmlformats.org/drawingml/2006/main">
            <a:off x="6000750" y="1504950"/>
            <a:ext cx="9525" cy="38576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A4734E-E27D-4D10-8A89-A645C17EFFB5}"/>
              </a:ext>
            </a:extLst>
          </p:cNvPr>
          <p:cNvSpPr>
            <a:spLocks xmlns:a="http://schemas.openxmlformats.org/drawingml/2006/main" noGrp="1"/>
          </p:cNvSpPr>
          <p:nvPr/>
        </p:nvSpPr>
        <p:spPr>
          <a:xfrm xmlns:a="http://schemas.openxmlformats.org/drawingml/2006/main">
            <a:off x="6515100" y="15430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273"/>
                </a:solidFill>
                <a:latin typeface="Helvetica Neue"/>
                <a:ea typeface="Helvetica Neue"/>
                <a:cs typeface="Helvetica Neue"/>
              </a:defRPr>
            </a:pPr>
            <a:r>
              <a:rPr sz="1125" b="1" i="0">
                <a:solidFill>
                  <a:srgbClr val="596273"/>
                </a:solidFill>
                <a:latin typeface="Helvetica Neue"/>
                <a:ea typeface="Helvetica Neue"/>
                <a:cs typeface="Helvetica Neue"/>
              </a:rPr>
              <a:t>ART-DIRECTED LAYER</a:t>
            </a:r>
          </a:p>
        </p:txBody>
      </p:sp>
      <p:sp>
        <p:nvSpPr>
          <p:cNvPr id="10" name="">
            <a:extLst xmlns:a="http://schemas.openxmlformats.org/drawingml/2006/main">
              <a:ext uri="{FF2B5EF4-FFF2-40B4-BE49-F238E27FC236}">
                <a16:creationId xmlns:a16="http://schemas.microsoft.com/office/drawing/2014/main" id="{A9D3B186-127C-4719-A06E-BC254B9F4B85}"/>
              </a:ext>
            </a:extLst>
          </p:cNvPr>
          <p:cNvSpPr>
            <a:spLocks xmlns:a="http://schemas.openxmlformats.org/drawingml/2006/main" noGrp="1"/>
          </p:cNvSpPr>
          <p:nvPr/>
        </p:nvSpPr>
        <p:spPr>
          <a:xfrm xmlns:a="http://schemas.openxmlformats.org/drawingml/2006/main">
            <a:off x="6515100" y="19431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24"/>
          </a:bodyPr>
          <a:lstStyle xmlns:a="http://schemas.openxmlformats.org/drawingml/2006/main"/>
          <a:p xmlns:a="http://schemas.openxmlformats.org/drawingml/2006/main">
            <a:pPr algn="l">
              <a:defRPr sz="2325" b="1" i="0">
                <a:solidFill>
                  <a:srgbClr val="111827"/>
                </a:solidFill>
                <a:latin typeface="Helvetica Neue"/>
                <a:ea typeface="Helvetica Neue"/>
                <a:cs typeface="Helvetica Neue"/>
              </a:defRPr>
            </a:pPr>
            <a:r>
              <a:rPr sz="2325" b="1" i="0">
                <a:solidFill>
                  <a:srgbClr val="111827"/>
                </a:solidFill>
                <a:latin typeface="Helvetica Neue"/>
                <a:ea typeface="Helvetica Neue"/>
                <a:cs typeface="Helvetica Neue"/>
              </a:rPr>
              <a:t>What should be described carefully</a:t>
            </a:r>
          </a:p>
        </p:txBody>
      </p:sp>
      <p:sp>
        <p:nvSpPr>
          <p:cNvPr id="11" name="">
            <a:extLst xmlns:a="http://schemas.openxmlformats.org/drawingml/2006/main">
              <a:ext uri="{FF2B5EF4-FFF2-40B4-BE49-F238E27FC236}">
                <a16:creationId xmlns:a16="http://schemas.microsoft.com/office/drawing/2014/main" id="{D43BE396-D052-4F48-ADFE-39BE583449CA}"/>
              </a:ext>
            </a:extLst>
          </p:cNvPr>
          <p:cNvSpPr>
            <a:spLocks xmlns:a="http://schemas.openxmlformats.org/drawingml/2006/main" noGrp="1"/>
          </p:cNvSpPr>
          <p:nvPr/>
        </p:nvSpPr>
        <p:spPr>
          <a:xfrm xmlns:a="http://schemas.openxmlformats.org/drawingml/2006/main">
            <a:off x="6515100" y="2676525"/>
            <a:ext cx="48101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Disk palette, spiral bands, and opacity</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The heuristic ‘redshift-ish’ brightness falloff</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Photon-sphere glow and procedural stars</a:t>
            </a:r>
          </a:p>
          <a:p xmlns:a="http://schemas.openxmlformats.org/drawingml/2006/main">
            <a:pPr marL="18" indent="-10" algn="l">
              <a:buChar cha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ACES-style tone mapping, gamma, and vignette</a:t>
            </a:r>
          </a:p>
        </p:txBody>
      </p:sp>
      <p:sp>
        <p:nvSpPr>
          <p:cNvPr id="12" name="">
            <a:extLst xmlns:a="http://schemas.openxmlformats.org/drawingml/2006/main">
              <a:ext uri="{FF2B5EF4-FFF2-40B4-BE49-F238E27FC236}">
                <a16:creationId xmlns:a16="http://schemas.microsoft.com/office/drawing/2014/main" id="{6680D125-E6C5-4F55-9936-FC2CB47626B3}"/>
              </a:ext>
            </a:extLst>
          </p:cNvPr>
          <p:cNvSpPr>
            <a:spLocks xmlns:a="http://schemas.openxmlformats.org/drawingml/2006/main" noGrp="1"/>
          </p:cNvSpPr>
          <p:nvPr/>
        </p:nvSpPr>
        <p:spPr>
          <a:xfrm xmlns:a="http://schemas.openxmlformats.org/drawingml/2006/main">
            <a:off x="400050" y="4857750"/>
            <a:ext cx="10925175" cy="809625"/>
          </a:xfrm>
          <a:prstGeom xmlns:a="http://schemas.openxmlformats.org/drawingml/2006/main" prst="roundRect">
            <a:avLst>
              <a:gd name="adj" fmla="val 14118"/>
            </a:avLst>
          </a:prstGeom>
          <a:solidFill xmlns:a="http://schemas.openxmlformats.org/drawingml/2006/main">
            <a:srgbClr val="FAF4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C8FB9FA-16EF-4F1D-AD53-59EAB0A93B1C}"/>
              </a:ext>
            </a:extLst>
          </p:cNvPr>
          <p:cNvSpPr>
            <a:spLocks xmlns:a="http://schemas.openxmlformats.org/drawingml/2006/main" noGrp="1"/>
          </p:cNvSpPr>
          <p:nvPr/>
        </p:nvSpPr>
        <p:spPr>
          <a:xfrm xmlns:a="http://schemas.openxmlformats.org/drawingml/2006/main">
            <a:off x="666750" y="5105400"/>
            <a:ext cx="1033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111827"/>
                </a:solidFill>
                <a:latin typeface="Helvetica Neue"/>
                <a:ea typeface="Helvetica Neue"/>
                <a:cs typeface="Helvetica Neue"/>
              </a:defRPr>
            </a:pPr>
            <a:r>
              <a:rPr sz="1425" b="1" i="0">
                <a:solidFill>
                  <a:srgbClr val="111827"/>
                </a:solidFill>
                <a:latin typeface="Helvetica Neue"/>
                <a:ea typeface="Helvetica Neue"/>
                <a:cs typeface="Helvetica Neue"/>
              </a:rPr>
              <a:t>Not yet modeled: Doppler beaming · rotating (Kerr) spacetime · fluid dynamics · calibrated radiative transfer</a:t>
            </a:r>
          </a:p>
        </p:txBody>
      </p:sp>
    </p:spTree>
    <p:extLst>
      <p:ext uri="{BB962C8B-B14F-4D97-AF65-F5344CB8AC3E}">
        <p14:creationId xmlns:p14="http://schemas.microsoft.com/office/powerpoint/2010/main" val="14815627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787D6C9-3120-485F-A4C9-B01709721BDF}"/>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CONFIDENCE</a:t>
            </a:r>
          </a:p>
        </p:txBody>
      </p:sp>
      <p:sp>
        <p:nvSpPr>
          <p:cNvPr id="2" name="">
            <a:extLst xmlns:a="http://schemas.openxmlformats.org/drawingml/2006/main">
              <a:ext uri="{FF2B5EF4-FFF2-40B4-BE49-F238E27FC236}">
                <a16:creationId xmlns:a16="http://schemas.microsoft.com/office/drawing/2014/main" id="{D3DB53D9-B418-42AA-A8C5-B128E0214D68}"/>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Validation should separate solver error from visual style</a:t>
            </a:r>
          </a:p>
        </p:txBody>
      </p:sp>
      <p:sp>
        <p:nvSpPr>
          <p:cNvPr id="3" name="">
            <a:extLst xmlns:a="http://schemas.openxmlformats.org/drawingml/2006/main">
              <a:ext uri="{FF2B5EF4-FFF2-40B4-BE49-F238E27FC236}">
                <a16:creationId xmlns:a16="http://schemas.microsoft.com/office/drawing/2014/main" id="{E3B4B6C8-944E-4BCD-B414-F3AAAEF07E96}"/>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088F38A-02C5-4426-8097-E0386682F5B5}"/>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52B4EF-1145-4D0E-BF58-0C90658C1AE3}"/>
              </a:ext>
            </a:extLst>
          </p:cNvPr>
          <p:cNvSpPr>
            <a:spLocks xmlns:a="http://schemas.openxmlformats.org/drawingml/2006/main" noGrp="1"/>
          </p:cNvSpPr>
          <p:nvPr/>
        </p:nvSpPr>
        <p:spPr>
          <a:xfrm xmlns:a="http://schemas.openxmlformats.org/drawingml/2006/main">
            <a:off x="400050" y="2962275"/>
            <a:ext cx="11391900" cy="19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8A5495-E12D-4B5B-864B-2595A017F7BA}"/>
              </a:ext>
            </a:extLst>
          </p:cNvPr>
          <p:cNvSpPr>
            <a:spLocks xmlns:a="http://schemas.openxmlformats.org/drawingml/2006/main" noGrp="1"/>
          </p:cNvSpPr>
          <p:nvPr/>
        </p:nvSpPr>
        <p:spPr>
          <a:xfrm xmlns:a="http://schemas.openxmlformats.org/drawingml/2006/main">
            <a:off x="685800" y="1790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REFERENCE</a:t>
            </a:r>
          </a:p>
        </p:txBody>
      </p:sp>
      <p:sp>
        <p:nvSpPr>
          <p:cNvPr id="7" name="">
            <a:extLst xmlns:a="http://schemas.openxmlformats.org/drawingml/2006/main">
              <a:ext uri="{FF2B5EF4-FFF2-40B4-BE49-F238E27FC236}">
                <a16:creationId xmlns:a16="http://schemas.microsoft.com/office/drawing/2014/main" id="{9D31C376-5F82-495F-8DC0-A671BC54F1AE}"/>
              </a:ext>
            </a:extLst>
          </p:cNvPr>
          <p:cNvSpPr>
            <a:spLocks xmlns:a="http://schemas.openxmlformats.org/drawingml/2006/main" noGrp="1"/>
          </p:cNvSpPr>
          <p:nvPr/>
        </p:nvSpPr>
        <p:spPr>
          <a:xfrm xmlns:a="http://schemas.openxmlformats.org/drawingml/2006/main">
            <a:off x="685800" y="2162175"/>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CPU double-precision paths</a:t>
            </a:r>
          </a:p>
        </p:txBody>
      </p:sp>
      <p:sp>
        <p:nvSpPr>
          <p:cNvPr id="8" name="">
            <a:extLst xmlns:a="http://schemas.openxmlformats.org/drawingml/2006/main">
              <a:ext uri="{FF2B5EF4-FFF2-40B4-BE49-F238E27FC236}">
                <a16:creationId xmlns:a16="http://schemas.microsoft.com/office/drawing/2014/main" id="{D2BDC559-1326-4CA1-88FE-67A6E4DE8543}"/>
              </a:ext>
            </a:extLst>
          </p:cNvPr>
          <p:cNvSpPr>
            <a:spLocks xmlns:a="http://schemas.openxmlformats.org/drawingml/2006/main" noGrp="1"/>
          </p:cNvSpPr>
          <p:nvPr/>
        </p:nvSpPr>
        <p:spPr>
          <a:xfrm xmlns:a="http://schemas.openxmlformats.org/drawingml/2006/main">
            <a:off x="685800" y="2895600"/>
            <a:ext cx="152400" cy="152400"/>
          </a:xfrm>
          <a:prstGeom xmlns:a="http://schemas.openxmlformats.org/drawingml/2006/main" prst="ellipse">
            <a:avLst/>
          </a:prstGeom>
          <a:solidFill xmlns:a="http://schemas.openxmlformats.org/drawingml/2006/main">
            <a:srgbClr val="E0A45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4FB301-03FE-4484-AE7E-28D9869A9E68}"/>
              </a:ext>
            </a:extLst>
          </p:cNvPr>
          <p:cNvSpPr>
            <a:spLocks xmlns:a="http://schemas.openxmlformats.org/drawingml/2006/main" noGrp="1"/>
          </p:cNvSpPr>
          <p:nvPr/>
        </p:nvSpPr>
        <p:spPr>
          <a:xfrm xmlns:a="http://schemas.openxmlformats.org/drawingml/2006/main">
            <a:off x="685800" y="33337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Compare selected rays, deflection angles, and near-critical trajectories against an offline solver.</a:t>
            </a:r>
          </a:p>
        </p:txBody>
      </p:sp>
      <p:sp>
        <p:nvSpPr>
          <p:cNvPr id="10" name="">
            <a:extLst xmlns:a="http://schemas.openxmlformats.org/drawingml/2006/main">
              <a:ext uri="{FF2B5EF4-FFF2-40B4-BE49-F238E27FC236}">
                <a16:creationId xmlns:a16="http://schemas.microsoft.com/office/drawing/2014/main" id="{477ACAF9-6251-435A-B156-27D5F69B3C36}"/>
              </a:ext>
            </a:extLst>
          </p:cNvPr>
          <p:cNvSpPr>
            <a:spLocks xmlns:a="http://schemas.openxmlformats.org/drawingml/2006/main" noGrp="1"/>
          </p:cNvSpPr>
          <p:nvPr/>
        </p:nvSpPr>
        <p:spPr>
          <a:xfrm xmlns:a="http://schemas.openxmlformats.org/drawingml/2006/main">
            <a:off x="4305300" y="1790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CONVERGENCE</a:t>
            </a:r>
          </a:p>
        </p:txBody>
      </p:sp>
      <p:sp>
        <p:nvSpPr>
          <p:cNvPr id="11" name="">
            <a:extLst xmlns:a="http://schemas.openxmlformats.org/drawingml/2006/main">
              <a:ext uri="{FF2B5EF4-FFF2-40B4-BE49-F238E27FC236}">
                <a16:creationId xmlns:a16="http://schemas.microsoft.com/office/drawing/2014/main" id="{75D714B1-FDD9-491E-A4DC-8F91DA4CB482}"/>
              </a:ext>
            </a:extLst>
          </p:cNvPr>
          <p:cNvSpPr>
            <a:spLocks xmlns:a="http://schemas.openxmlformats.org/drawingml/2006/main" noGrp="1"/>
          </p:cNvSpPr>
          <p:nvPr/>
        </p:nvSpPr>
        <p:spPr>
          <a:xfrm xmlns:a="http://schemas.openxmlformats.org/drawingml/2006/main">
            <a:off x="4305300" y="2162175"/>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Invariants + step halving</a:t>
            </a:r>
          </a:p>
        </p:txBody>
      </p:sp>
      <p:sp>
        <p:nvSpPr>
          <p:cNvPr id="12" name="">
            <a:extLst xmlns:a="http://schemas.openxmlformats.org/drawingml/2006/main">
              <a:ext uri="{FF2B5EF4-FFF2-40B4-BE49-F238E27FC236}">
                <a16:creationId xmlns:a16="http://schemas.microsoft.com/office/drawing/2014/main" id="{4B902B66-0D9C-4450-8F0A-DFDC9E9461B5}"/>
              </a:ext>
            </a:extLst>
          </p:cNvPr>
          <p:cNvSpPr>
            <a:spLocks xmlns:a="http://schemas.openxmlformats.org/drawingml/2006/main" noGrp="1"/>
          </p:cNvSpPr>
          <p:nvPr/>
        </p:nvSpPr>
        <p:spPr>
          <a:xfrm xmlns:a="http://schemas.openxmlformats.org/drawingml/2006/main">
            <a:off x="4305300" y="2895600"/>
            <a:ext cx="152400" cy="152400"/>
          </a:xfrm>
          <a:prstGeom xmlns:a="http://schemas.openxmlformats.org/drawingml/2006/main" prst="ellipse">
            <a:avLst/>
          </a:prstGeom>
          <a:solidFill xmlns:a="http://schemas.openxmlformats.org/drawingml/2006/main">
            <a:srgbClr val="E0A45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677565-F2FA-47CE-9AA8-E8F6C2746D6B}"/>
              </a:ext>
            </a:extLst>
          </p:cNvPr>
          <p:cNvSpPr>
            <a:spLocks xmlns:a="http://schemas.openxmlformats.org/drawingml/2006/main" noGrp="1"/>
          </p:cNvSpPr>
          <p:nvPr/>
        </p:nvSpPr>
        <p:spPr>
          <a:xfrm xmlns:a="http://schemas.openxmlformats.org/drawingml/2006/main">
            <a:off x="4305300" y="33337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Track angular momentum and verify that smaller steps approach the same path and event outcome.</a:t>
            </a:r>
          </a:p>
        </p:txBody>
      </p:sp>
      <p:sp>
        <p:nvSpPr>
          <p:cNvPr id="14" name="">
            <a:extLst xmlns:a="http://schemas.openxmlformats.org/drawingml/2006/main">
              <a:ext uri="{FF2B5EF4-FFF2-40B4-BE49-F238E27FC236}">
                <a16:creationId xmlns:a16="http://schemas.microsoft.com/office/drawing/2014/main" id="{FBF75C4A-853B-4496-8F0E-E8E372CE0B2F}"/>
              </a:ext>
            </a:extLst>
          </p:cNvPr>
          <p:cNvSpPr>
            <a:spLocks xmlns:a="http://schemas.openxmlformats.org/drawingml/2006/main" noGrp="1"/>
          </p:cNvSpPr>
          <p:nvPr/>
        </p:nvSpPr>
        <p:spPr>
          <a:xfrm xmlns:a="http://schemas.openxmlformats.org/drawingml/2006/main">
            <a:off x="7924800" y="1790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9A5E18"/>
                </a:solidFill>
                <a:latin typeface="Helvetica Neue"/>
                <a:ea typeface="Helvetica Neue"/>
                <a:cs typeface="Helvetica Neue"/>
              </a:defRPr>
            </a:pPr>
            <a:r>
              <a:rPr sz="975" b="1" i="0">
                <a:solidFill>
                  <a:srgbClr val="9A5E18"/>
                </a:solidFill>
                <a:latin typeface="Helvetica Neue"/>
                <a:ea typeface="Helvetica Neue"/>
                <a:cs typeface="Helvetica Neue"/>
              </a:rPr>
              <a:t>REGRESSION</a:t>
            </a:r>
          </a:p>
        </p:txBody>
      </p:sp>
      <p:sp>
        <p:nvSpPr>
          <p:cNvPr id="15" name="">
            <a:extLst xmlns:a="http://schemas.openxmlformats.org/drawingml/2006/main">
              <a:ext uri="{FF2B5EF4-FFF2-40B4-BE49-F238E27FC236}">
                <a16:creationId xmlns:a16="http://schemas.microsoft.com/office/drawing/2014/main" id="{3FAA1E0B-8103-4E3F-B1C7-84316CE5C0FB}"/>
              </a:ext>
            </a:extLst>
          </p:cNvPr>
          <p:cNvSpPr>
            <a:spLocks xmlns:a="http://schemas.openxmlformats.org/drawingml/2006/main" noGrp="1"/>
          </p:cNvSpPr>
          <p:nvPr/>
        </p:nvSpPr>
        <p:spPr>
          <a:xfrm xmlns:a="http://schemas.openxmlformats.org/drawingml/2006/main">
            <a:off x="7924800" y="2162175"/>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00"/>
          </a:bodyPr>
          <a:lstStyle xmlns:a="http://schemas.openxmlformats.org/drawingml/2006/main"/>
          <a:p xmlns:a="http://schemas.openxmlformats.org/drawingml/2006/main">
            <a:pPr algn="l">
              <a:defRPr sz="1875" b="1" i="0">
                <a:solidFill>
                  <a:srgbClr val="111827"/>
                </a:solidFill>
                <a:latin typeface="Helvetica Neue"/>
                <a:ea typeface="Helvetica Neue"/>
                <a:cs typeface="Helvetica Neue"/>
              </a:defRPr>
            </a:pPr>
            <a:r>
              <a:rPr sz="1875" b="1" i="0">
                <a:solidFill>
                  <a:srgbClr val="111827"/>
                </a:solidFill>
                <a:latin typeface="Helvetica Neue"/>
                <a:ea typeface="Helvetica Neue"/>
                <a:cs typeface="Helvetica Neue"/>
              </a:rPr>
              <a:t>Fixed-camera image baselines</a:t>
            </a:r>
          </a:p>
        </p:txBody>
      </p:sp>
      <p:sp>
        <p:nvSpPr>
          <p:cNvPr id="16" name="">
            <a:extLst xmlns:a="http://schemas.openxmlformats.org/drawingml/2006/main">
              <a:ext uri="{FF2B5EF4-FFF2-40B4-BE49-F238E27FC236}">
                <a16:creationId xmlns:a16="http://schemas.microsoft.com/office/drawing/2014/main" id="{1D8CE519-9B5B-453D-8C1E-F3F35CD2DA42}"/>
              </a:ext>
            </a:extLst>
          </p:cNvPr>
          <p:cNvSpPr>
            <a:spLocks xmlns:a="http://schemas.openxmlformats.org/drawingml/2006/main" noGrp="1"/>
          </p:cNvSpPr>
          <p:nvPr/>
        </p:nvSpPr>
        <p:spPr>
          <a:xfrm xmlns:a="http://schemas.openxmlformats.org/drawingml/2006/main">
            <a:off x="7924800" y="2895600"/>
            <a:ext cx="152400" cy="1524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27640F-1BEF-40E9-BA4F-5CAAE2601529}"/>
              </a:ext>
            </a:extLst>
          </p:cNvPr>
          <p:cNvSpPr>
            <a:spLocks xmlns:a="http://schemas.openxmlformats.org/drawingml/2006/main" noGrp="1"/>
          </p:cNvSpPr>
          <p:nvPr/>
        </p:nvSpPr>
        <p:spPr>
          <a:xfrm xmlns:a="http://schemas.openxmlformats.org/drawingml/2006/main">
            <a:off x="7924800" y="3333750"/>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96273"/>
                </a:solidFill>
                <a:latin typeface="Helvetica Neue"/>
                <a:ea typeface="Helvetica Neue"/>
                <a:cs typeface="Helvetica Neue"/>
              </a:defRPr>
            </a:pPr>
            <a:r>
              <a:rPr sz="1350" b="0" i="0">
                <a:solidFill>
                  <a:srgbClr val="596273"/>
                </a:solidFill>
                <a:latin typeface="Helvetica Neue"/>
                <a:ea typeface="Helvetica Neue"/>
                <a:cs typeface="Helvetica Neue"/>
              </a:rPr>
              <a:t>Keep deterministic views for the shadow edge, photon-ring region, and disk-image structure.</a:t>
            </a:r>
          </a:p>
        </p:txBody>
      </p:sp>
      <p:sp>
        <p:nvSpPr>
          <p:cNvPr id="18" name="">
            <a:extLst xmlns:a="http://schemas.openxmlformats.org/drawingml/2006/main">
              <a:ext uri="{FF2B5EF4-FFF2-40B4-BE49-F238E27FC236}">
                <a16:creationId xmlns:a16="http://schemas.microsoft.com/office/drawing/2014/main" id="{32616A39-0674-46C1-B1B2-0FF509F2FEFA}"/>
              </a:ext>
            </a:extLst>
          </p:cNvPr>
          <p:cNvSpPr>
            <a:spLocks xmlns:a="http://schemas.openxmlformats.org/drawingml/2006/main" noGrp="1"/>
          </p:cNvSpPr>
          <p:nvPr/>
        </p:nvSpPr>
        <p:spPr>
          <a:xfrm xmlns:a="http://schemas.openxmlformats.org/drawingml/2006/main">
            <a:off x="400050" y="4895850"/>
            <a:ext cx="11391900" cy="857250"/>
          </a:xfrm>
          <a:prstGeom xmlns:a="http://schemas.openxmlformats.org/drawingml/2006/main" prst="roundRect">
            <a:avLst>
              <a:gd name="adj" fmla="val 13333"/>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0576B78-327D-45A3-9E03-BEA39BBA2616}"/>
              </a:ext>
            </a:extLst>
          </p:cNvPr>
          <p:cNvSpPr>
            <a:spLocks xmlns:a="http://schemas.openxmlformats.org/drawingml/2006/main" noGrp="1"/>
          </p:cNvSpPr>
          <p:nvPr/>
        </p:nvSpPr>
        <p:spPr>
          <a:xfrm xmlns:a="http://schemas.openxmlformats.org/drawingml/2006/main">
            <a:off x="647700" y="51054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9E3B3B"/>
                </a:solidFill>
                <a:latin typeface="Helvetica Neue"/>
                <a:ea typeface="Helvetica Neue"/>
                <a:cs typeface="Helvetica Neue"/>
              </a:defRPr>
            </a:pPr>
            <a:r>
              <a:rPr sz="1200" b="1" i="0">
                <a:solidFill>
                  <a:srgbClr val="9E3B3B"/>
                </a:solidFill>
                <a:latin typeface="Helvetica Neue"/>
                <a:ea typeface="Helvetica Neue"/>
                <a:cs typeface="Helvetica Neue"/>
              </a:rPr>
              <a:t>Current audit signal</a:t>
            </a:r>
          </a:p>
        </p:txBody>
      </p:sp>
      <p:sp>
        <p:nvSpPr>
          <p:cNvPr id="20" name="">
            <a:extLst xmlns:a="http://schemas.openxmlformats.org/drawingml/2006/main">
              <a:ext uri="{FF2B5EF4-FFF2-40B4-BE49-F238E27FC236}">
                <a16:creationId xmlns:a16="http://schemas.microsoft.com/office/drawing/2014/main" id="{D7D47FAB-1CFF-49AF-9438-85D043FDCD01}"/>
              </a:ext>
            </a:extLst>
          </p:cNvPr>
          <p:cNvSpPr>
            <a:spLocks xmlns:a="http://schemas.openxmlformats.org/drawingml/2006/main" noGrp="1"/>
          </p:cNvSpPr>
          <p:nvPr/>
        </p:nvSpPr>
        <p:spPr>
          <a:xfrm xmlns:a="http://schemas.openxmlformats.org/drawingml/2006/main">
            <a:off x="2571750" y="5067300"/>
            <a:ext cx="8715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111827"/>
                </a:solidFill>
                <a:latin typeface="Helvetica Neue"/>
                <a:ea typeface="Helvetica Neue"/>
                <a:cs typeface="Helvetica Neue"/>
              </a:defRPr>
            </a:pPr>
            <a:r>
              <a:rPr sz="1350" b="0" i="0">
                <a:solidFill>
                  <a:srgbClr val="111827"/>
                </a:solidFill>
                <a:latin typeface="Helvetica Neue"/>
                <a:ea typeface="Helvetica Neue"/>
                <a:cs typeface="Helvetica Neue"/>
              </a:rPr>
              <a:t>A fixed 260-step budget can end some long rays before capture or escape; at large camera distance this can create false dark pixels.</a:t>
            </a:r>
          </a:p>
        </p:txBody>
      </p:sp>
    </p:spTree>
    <p:extLst>
      <p:ext uri="{BB962C8B-B14F-4D97-AF65-F5344CB8AC3E}">
        <p14:creationId xmlns:p14="http://schemas.microsoft.com/office/powerpoint/2010/main" val="5291683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FF3596-0B72-48F3-8361-4336A08D084E}"/>
              </a:ext>
            </a:extLst>
          </p:cNvPr>
          <p:cNvSpPr>
            <a:spLocks xmlns:a="http://schemas.openxmlformats.org/drawingml/2006/main" noGrp="1"/>
          </p:cNvSpPr>
          <p:nvPr/>
        </p:nvSpPr>
        <p:spPr>
          <a:xfrm xmlns:a="http://schemas.openxmlformats.org/drawingml/2006/main">
            <a:off x="400050" y="2667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96273"/>
                </a:solidFill>
                <a:latin typeface="Helvetica Neue"/>
                <a:ea typeface="Helvetica Neue"/>
                <a:cs typeface="Helvetica Neue"/>
              </a:defRPr>
            </a:pPr>
            <a:r>
              <a:rPr sz="900" b="1" i="0">
                <a:solidFill>
                  <a:srgbClr val="596273"/>
                </a:solidFill>
                <a:latin typeface="Helvetica Neue"/>
                <a:ea typeface="Helvetica Neue"/>
                <a:cs typeface="Helvetica Neue"/>
              </a:rPr>
              <a:t>ROADMAP</a:t>
            </a:r>
          </a:p>
        </p:txBody>
      </p:sp>
      <p:sp>
        <p:nvSpPr>
          <p:cNvPr id="2" name="">
            <a:extLst xmlns:a="http://schemas.openxmlformats.org/drawingml/2006/main">
              <a:ext uri="{FF2B5EF4-FFF2-40B4-BE49-F238E27FC236}">
                <a16:creationId xmlns:a16="http://schemas.microsoft.com/office/drawing/2014/main" id="{1A8C85BB-1B2B-4065-9780-05AF6B679874}"/>
              </a:ext>
            </a:extLst>
          </p:cNvPr>
          <p:cNvSpPr>
            <a:spLocks xmlns:a="http://schemas.openxmlformats.org/drawingml/2006/main" noGrp="1"/>
          </p:cNvSpPr>
          <p:nvPr/>
        </p:nvSpPr>
        <p:spPr>
          <a:xfrm xmlns:a="http://schemas.openxmlformats.org/drawingml/2006/main">
            <a:off x="400050" y="523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11827"/>
                </a:solidFill>
                <a:latin typeface="Helvetica Neue"/>
                <a:ea typeface="Helvetica Neue"/>
                <a:cs typeface="Helvetica Neue"/>
              </a:defRPr>
            </a:pPr>
            <a:r>
              <a:rPr sz="3000" b="1" i="0">
                <a:solidFill>
                  <a:srgbClr val="111827"/>
                </a:solidFill>
                <a:latin typeface="Helvetica Neue"/>
                <a:ea typeface="Helvetica Neue"/>
                <a:cs typeface="Helvetica Neue"/>
              </a:rPr>
              <a:t>Add fidelity in measured stages</a:t>
            </a:r>
          </a:p>
        </p:txBody>
      </p:sp>
      <p:sp>
        <p:nvSpPr>
          <p:cNvPr id="3" name="">
            <a:extLst xmlns:a="http://schemas.openxmlformats.org/drawingml/2006/main">
              <a:ext uri="{FF2B5EF4-FFF2-40B4-BE49-F238E27FC236}">
                <a16:creationId xmlns:a16="http://schemas.microsoft.com/office/drawing/2014/main" id="{F8CF37C5-072A-4320-8535-8B63A656E750}"/>
              </a:ext>
            </a:extLst>
          </p:cNvPr>
          <p:cNvSpPr>
            <a:spLocks xmlns:a="http://schemas.openxmlformats.org/drawingml/2006/main" noGrp="1"/>
          </p:cNvSpPr>
          <p:nvPr/>
        </p:nvSpPr>
        <p:spPr>
          <a:xfrm xmlns:a="http://schemas.openxmlformats.org/drawingml/2006/main">
            <a:off x="11268075" y="62865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96273"/>
                </a:solidFill>
                <a:latin typeface="Helvetica Neue"/>
                <a:ea typeface="Helvetica Neue"/>
                <a:cs typeface="Helvetica Neue"/>
              </a:defRPr>
            </a:pPr>
            <a:r>
              <a:rPr sz="975" b="0" i="0">
                <a:solidFill>
                  <a:srgbClr val="5962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9F36F83D-E503-40EF-89A8-9FE5E37B917E}"/>
              </a:ext>
            </a:extLst>
          </p:cNvPr>
          <p:cNvSpPr>
            <a:spLocks xmlns:a="http://schemas.openxmlformats.org/drawingml/2006/main" noGrp="1"/>
          </p:cNvSpPr>
          <p:nvPr/>
        </p:nvSpPr>
        <p:spPr>
          <a:xfrm xmlns:a="http://schemas.openxmlformats.org/drawingml/2006/main">
            <a:off x="400050" y="6143625"/>
            <a:ext cx="11391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F332E4-16EE-4EEB-8DEF-039492A96BA4}"/>
              </a:ext>
            </a:extLst>
          </p:cNvPr>
          <p:cNvSpPr>
            <a:spLocks xmlns:a="http://schemas.openxmlformats.org/drawingml/2006/main" noGrp="1"/>
          </p:cNvSpPr>
          <p:nvPr/>
        </p:nvSpPr>
        <p:spPr>
          <a:xfrm xmlns:a="http://schemas.openxmlformats.org/drawingml/2006/main">
            <a:off x="400050" y="1600200"/>
            <a:ext cx="438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BD2722C-6407-4BE8-86E1-621249B3213F}"/>
              </a:ext>
            </a:extLst>
          </p:cNvPr>
          <p:cNvSpPr>
            <a:spLocks xmlns:a="http://schemas.openxmlformats.org/drawingml/2006/main" noGrp="1"/>
          </p:cNvSpPr>
          <p:nvPr/>
        </p:nvSpPr>
        <p:spPr>
          <a:xfrm xmlns:a="http://schemas.openxmlformats.org/drawingml/2006/main">
            <a:off x="1085850" y="160020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Validate the integrator</a:t>
            </a:r>
          </a:p>
        </p:txBody>
      </p:sp>
      <p:sp>
        <p:nvSpPr>
          <p:cNvPr id="7" name="">
            <a:extLst xmlns:a="http://schemas.openxmlformats.org/drawingml/2006/main">
              <a:ext uri="{FF2B5EF4-FFF2-40B4-BE49-F238E27FC236}">
                <a16:creationId xmlns:a16="http://schemas.microsoft.com/office/drawing/2014/main" id="{0FA45048-4A94-4E37-9661-E5BB01312E11}"/>
              </a:ext>
            </a:extLst>
          </p:cNvPr>
          <p:cNvSpPr>
            <a:spLocks xmlns:a="http://schemas.openxmlformats.org/drawingml/2006/main" noGrp="1"/>
          </p:cNvSpPr>
          <p:nvPr/>
        </p:nvSpPr>
        <p:spPr>
          <a:xfrm xmlns:a="http://schemas.openxmlformats.org/drawingml/2006/main">
            <a:off x="1085850" y="2028825"/>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Reference rays, invariants, step-halving studies, and deterministic image tests.</a:t>
            </a:r>
          </a:p>
        </p:txBody>
      </p:sp>
      <p:sp>
        <p:nvSpPr>
          <p:cNvPr id="8" name="">
            <a:extLst xmlns:a="http://schemas.openxmlformats.org/drawingml/2006/main">
              <a:ext uri="{FF2B5EF4-FFF2-40B4-BE49-F238E27FC236}">
                <a16:creationId xmlns:a16="http://schemas.microsoft.com/office/drawing/2014/main" id="{FFF13134-6AC5-48EA-95E4-575E9EA500D4}"/>
              </a:ext>
            </a:extLst>
          </p:cNvPr>
          <p:cNvSpPr>
            <a:spLocks xmlns:a="http://schemas.openxmlformats.org/drawingml/2006/main" noGrp="1"/>
          </p:cNvSpPr>
          <p:nvPr/>
        </p:nvSpPr>
        <p:spPr>
          <a:xfrm xmlns:a="http://schemas.openxmlformats.org/drawingml/2006/main">
            <a:off x="6191250" y="1600200"/>
            <a:ext cx="438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726017C5-F194-4A57-894D-F382C61D16CB}"/>
              </a:ext>
            </a:extLst>
          </p:cNvPr>
          <p:cNvSpPr>
            <a:spLocks xmlns:a="http://schemas.openxmlformats.org/drawingml/2006/main" noGrp="1"/>
          </p:cNvSpPr>
          <p:nvPr/>
        </p:nvSpPr>
        <p:spPr>
          <a:xfrm xmlns:a="http://schemas.openxmlformats.org/drawingml/2006/main">
            <a:off x="6877050" y="160020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Correct light transport</a:t>
            </a:r>
          </a:p>
        </p:txBody>
      </p:sp>
      <p:sp>
        <p:nvSpPr>
          <p:cNvPr id="10" name="">
            <a:extLst xmlns:a="http://schemas.openxmlformats.org/drawingml/2006/main">
              <a:ext uri="{FF2B5EF4-FFF2-40B4-BE49-F238E27FC236}">
                <a16:creationId xmlns:a16="http://schemas.microsoft.com/office/drawing/2014/main" id="{9DBA8DDF-F3E0-4B45-B28D-A9E9A6C508B2}"/>
              </a:ext>
            </a:extLst>
          </p:cNvPr>
          <p:cNvSpPr>
            <a:spLocks xmlns:a="http://schemas.openxmlformats.org/drawingml/2006/main" noGrp="1"/>
          </p:cNvSpPr>
          <p:nvPr/>
        </p:nvSpPr>
        <p:spPr>
          <a:xfrm xmlns:a="http://schemas.openxmlformats.org/drawingml/2006/main">
            <a:off x="6877050" y="2028825"/>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Observer tetrad, frequency shift, and invariant intensity transport.</a:t>
            </a:r>
          </a:p>
        </p:txBody>
      </p:sp>
      <p:sp>
        <p:nvSpPr>
          <p:cNvPr id="11" name="">
            <a:extLst xmlns:a="http://schemas.openxmlformats.org/drawingml/2006/main">
              <a:ext uri="{FF2B5EF4-FFF2-40B4-BE49-F238E27FC236}">
                <a16:creationId xmlns:a16="http://schemas.microsoft.com/office/drawing/2014/main" id="{62771342-8BD8-45C6-A6FD-16C007AF082E}"/>
              </a:ext>
            </a:extLst>
          </p:cNvPr>
          <p:cNvSpPr>
            <a:spLocks xmlns:a="http://schemas.openxmlformats.org/drawingml/2006/main" noGrp="1"/>
          </p:cNvSpPr>
          <p:nvPr/>
        </p:nvSpPr>
        <p:spPr>
          <a:xfrm xmlns:a="http://schemas.openxmlformats.org/drawingml/2006/main">
            <a:off x="400050" y="2867025"/>
            <a:ext cx="11010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4FE0DB-8891-4AEB-9C68-549623A4709A}"/>
              </a:ext>
            </a:extLst>
          </p:cNvPr>
          <p:cNvSpPr>
            <a:spLocks xmlns:a="http://schemas.openxmlformats.org/drawingml/2006/main" noGrp="1"/>
          </p:cNvSpPr>
          <p:nvPr/>
        </p:nvSpPr>
        <p:spPr>
          <a:xfrm xmlns:a="http://schemas.openxmlformats.org/drawingml/2006/main">
            <a:off x="400050" y="3200400"/>
            <a:ext cx="438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2FCF7448-2039-43F5-BCA5-3B6BAB19DF6F}"/>
              </a:ext>
            </a:extLst>
          </p:cNvPr>
          <p:cNvSpPr>
            <a:spLocks xmlns:a="http://schemas.openxmlformats.org/drawingml/2006/main" noGrp="1"/>
          </p:cNvSpPr>
          <p:nvPr/>
        </p:nvSpPr>
        <p:spPr>
          <a:xfrm xmlns:a="http://schemas.openxmlformats.org/drawingml/2006/main">
            <a:off x="1085850" y="320040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Improve the disk</a:t>
            </a:r>
          </a:p>
        </p:txBody>
      </p:sp>
      <p:sp>
        <p:nvSpPr>
          <p:cNvPr id="14" name="">
            <a:extLst xmlns:a="http://schemas.openxmlformats.org/drawingml/2006/main">
              <a:ext uri="{FF2B5EF4-FFF2-40B4-BE49-F238E27FC236}">
                <a16:creationId xmlns:a16="http://schemas.microsoft.com/office/drawing/2014/main" id="{C35966C2-F781-4CB9-9A2F-8347071A8D1C}"/>
              </a:ext>
            </a:extLst>
          </p:cNvPr>
          <p:cNvSpPr>
            <a:spLocks xmlns:a="http://schemas.openxmlformats.org/drawingml/2006/main" noGrp="1"/>
          </p:cNvSpPr>
          <p:nvPr/>
        </p:nvSpPr>
        <p:spPr>
          <a:xfrm xmlns:a="http://schemas.openxmlformats.org/drawingml/2006/main">
            <a:off x="1085850" y="3629025"/>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Orbital velocity, Doppler beaming, and an emissivity / temperature model.</a:t>
            </a:r>
          </a:p>
        </p:txBody>
      </p:sp>
      <p:sp>
        <p:nvSpPr>
          <p:cNvPr id="15" name="">
            <a:extLst xmlns:a="http://schemas.openxmlformats.org/drawingml/2006/main">
              <a:ext uri="{FF2B5EF4-FFF2-40B4-BE49-F238E27FC236}">
                <a16:creationId xmlns:a16="http://schemas.microsoft.com/office/drawing/2014/main" id="{2CCBDE19-093C-487A-8D8D-A9268A1424B0}"/>
              </a:ext>
            </a:extLst>
          </p:cNvPr>
          <p:cNvSpPr>
            <a:spLocks xmlns:a="http://schemas.openxmlformats.org/drawingml/2006/main" noGrp="1"/>
          </p:cNvSpPr>
          <p:nvPr/>
        </p:nvSpPr>
        <p:spPr>
          <a:xfrm xmlns:a="http://schemas.openxmlformats.org/drawingml/2006/main">
            <a:off x="6191250" y="3200400"/>
            <a:ext cx="438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0887F596-8ADA-47CE-BA1E-300BC6459C48}"/>
              </a:ext>
            </a:extLst>
          </p:cNvPr>
          <p:cNvSpPr>
            <a:spLocks xmlns:a="http://schemas.openxmlformats.org/drawingml/2006/main" noGrp="1"/>
          </p:cNvSpPr>
          <p:nvPr/>
        </p:nvSpPr>
        <p:spPr>
          <a:xfrm xmlns:a="http://schemas.openxmlformats.org/drawingml/2006/main">
            <a:off x="6877050" y="320040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Add Kerr spacetime</a:t>
            </a:r>
          </a:p>
        </p:txBody>
      </p:sp>
      <p:sp>
        <p:nvSpPr>
          <p:cNvPr id="17" name="">
            <a:extLst xmlns:a="http://schemas.openxmlformats.org/drawingml/2006/main">
              <a:ext uri="{FF2B5EF4-FFF2-40B4-BE49-F238E27FC236}">
                <a16:creationId xmlns:a16="http://schemas.microsoft.com/office/drawing/2014/main" id="{D5D41B33-B602-46D0-A23B-3C478A531022}"/>
              </a:ext>
            </a:extLst>
          </p:cNvPr>
          <p:cNvSpPr>
            <a:spLocks xmlns:a="http://schemas.openxmlformats.org/drawingml/2006/main" noGrp="1"/>
          </p:cNvSpPr>
          <p:nvPr/>
        </p:nvSpPr>
        <p:spPr>
          <a:xfrm xmlns:a="http://schemas.openxmlformats.org/drawingml/2006/main">
            <a:off x="6877050" y="3629025"/>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Spin, frame dragging, and Kerr null geodesics while retaining ray tracing.</a:t>
            </a:r>
          </a:p>
        </p:txBody>
      </p:sp>
      <p:sp>
        <p:nvSpPr>
          <p:cNvPr id="18" name="">
            <a:extLst xmlns:a="http://schemas.openxmlformats.org/drawingml/2006/main">
              <a:ext uri="{FF2B5EF4-FFF2-40B4-BE49-F238E27FC236}">
                <a16:creationId xmlns:a16="http://schemas.microsoft.com/office/drawing/2014/main" id="{67FA48EF-40CF-4E03-A408-2F860F82F280}"/>
              </a:ext>
            </a:extLst>
          </p:cNvPr>
          <p:cNvSpPr>
            <a:spLocks xmlns:a="http://schemas.openxmlformats.org/drawingml/2006/main" noGrp="1"/>
          </p:cNvSpPr>
          <p:nvPr/>
        </p:nvSpPr>
        <p:spPr>
          <a:xfrm xmlns:a="http://schemas.openxmlformats.org/drawingml/2006/main">
            <a:off x="400050" y="4467225"/>
            <a:ext cx="11010900" cy="9525"/>
          </a:xfrm>
          <a:prstGeom xmlns:a="http://schemas.openxmlformats.org/drawingml/2006/main" prst="rect">
            <a:avLst/>
          </a:prstGeom>
          <a:solidFill xmlns:a="http://schemas.openxmlformats.org/drawingml/2006/main">
            <a:srgbClr val="D7DBE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CE4F114-B836-4B01-8E2A-C97A61EB4A8C}"/>
              </a:ext>
            </a:extLst>
          </p:cNvPr>
          <p:cNvSpPr>
            <a:spLocks xmlns:a="http://schemas.openxmlformats.org/drawingml/2006/main" noGrp="1"/>
          </p:cNvSpPr>
          <p:nvPr/>
        </p:nvSpPr>
        <p:spPr>
          <a:xfrm xmlns:a="http://schemas.openxmlformats.org/drawingml/2006/main">
            <a:off x="400050" y="4800600"/>
            <a:ext cx="438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9A5E18"/>
                </a:solidFill>
                <a:latin typeface="Helvetica Neue"/>
                <a:ea typeface="Helvetica Neue"/>
                <a:cs typeface="Helvetica Neue"/>
              </a:defRPr>
            </a:pPr>
            <a:r>
              <a:rPr sz="1500" b="1" i="0">
                <a:solidFill>
                  <a:srgbClr val="9A5E18"/>
                </a:solidFill>
                <a:latin typeface="Helvetica Neue"/>
                <a:ea typeface="Helvetica Neue"/>
                <a:cs typeface="Helvetica Neue"/>
              </a:rPr>
              <a:t>05</a:t>
            </a:r>
          </a:p>
        </p:txBody>
      </p:sp>
      <p:sp>
        <p:nvSpPr>
          <p:cNvPr id="20" name="">
            <a:extLst xmlns:a="http://schemas.openxmlformats.org/drawingml/2006/main">
              <a:ext uri="{FF2B5EF4-FFF2-40B4-BE49-F238E27FC236}">
                <a16:creationId xmlns:a16="http://schemas.microsoft.com/office/drawing/2014/main" id="{2F0141C6-5366-4B3D-92D4-32F02845D8E9}"/>
              </a:ext>
            </a:extLst>
          </p:cNvPr>
          <p:cNvSpPr>
            <a:spLocks xmlns:a="http://schemas.openxmlformats.org/drawingml/2006/main" noGrp="1"/>
          </p:cNvSpPr>
          <p:nvPr/>
        </p:nvSpPr>
        <p:spPr>
          <a:xfrm xmlns:a="http://schemas.openxmlformats.org/drawingml/2006/main">
            <a:off x="1085850" y="480060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827"/>
                </a:solidFill>
                <a:latin typeface="Helvetica Neue"/>
                <a:ea typeface="Helvetica Neue"/>
                <a:cs typeface="Helvetica Neue"/>
              </a:defRPr>
            </a:pPr>
            <a:r>
              <a:rPr sz="1800" b="1" i="0">
                <a:solidFill>
                  <a:srgbClr val="111827"/>
                </a:solidFill>
                <a:latin typeface="Helvetica Neue"/>
                <a:ea typeface="Helvetica Neue"/>
                <a:cs typeface="Helvetica Neue"/>
              </a:rPr>
              <a:t>Tune quality and controls</a:t>
            </a:r>
          </a:p>
        </p:txBody>
      </p:sp>
      <p:sp>
        <p:nvSpPr>
          <p:cNvPr id="21" name="">
            <a:extLst xmlns:a="http://schemas.openxmlformats.org/drawingml/2006/main">
              <a:ext uri="{FF2B5EF4-FFF2-40B4-BE49-F238E27FC236}">
                <a16:creationId xmlns:a16="http://schemas.microsoft.com/office/drawing/2014/main" id="{FD15C941-9F18-4772-916A-05308F5DB1ED}"/>
              </a:ext>
            </a:extLst>
          </p:cNvPr>
          <p:cNvSpPr>
            <a:spLocks xmlns:a="http://schemas.openxmlformats.org/drawingml/2006/main" noGrp="1"/>
          </p:cNvSpPr>
          <p:nvPr/>
        </p:nvSpPr>
        <p:spPr>
          <a:xfrm xmlns:a="http://schemas.openxmlformats.org/drawingml/2006/main">
            <a:off x="1085850" y="5229225"/>
            <a:ext cx="453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96273"/>
                </a:solidFill>
                <a:latin typeface="Helvetica Neue"/>
                <a:ea typeface="Helvetica Neue"/>
                <a:cs typeface="Helvetica Neue"/>
              </a:defRPr>
            </a:pPr>
            <a:r>
              <a:rPr sz="1275" b="0" i="0">
                <a:solidFill>
                  <a:srgbClr val="596273"/>
                </a:solidFill>
                <a:latin typeface="Helvetica Neue"/>
                <a:ea typeface="Helvetica Neue"/>
                <a:cs typeface="Helvetica Neue"/>
              </a:rPr>
              <a:t>Error-controlled stepping, optional supersampling, reset, pause, and quality modes.</a:t>
            </a:r>
          </a:p>
        </p:txBody>
      </p:sp>
      <p:sp>
        <p:nvSpPr>
          <p:cNvPr id="22" name="">
            <a:extLst xmlns:a="http://schemas.openxmlformats.org/drawingml/2006/main">
              <a:ext uri="{FF2B5EF4-FFF2-40B4-BE49-F238E27FC236}">
                <a16:creationId xmlns:a16="http://schemas.microsoft.com/office/drawing/2014/main" id="{F920580F-4C25-4CA6-92F6-A7D0B02746C7}"/>
              </a:ext>
            </a:extLst>
          </p:cNvPr>
          <p:cNvSpPr>
            <a:spLocks xmlns:a="http://schemas.openxmlformats.org/drawingml/2006/main" noGrp="1"/>
          </p:cNvSpPr>
          <p:nvPr/>
        </p:nvSpPr>
        <p:spPr>
          <a:xfrm xmlns:a="http://schemas.openxmlformats.org/drawingml/2006/main">
            <a:off x="6191250" y="4819650"/>
            <a:ext cx="5219700" cy="914400"/>
          </a:xfrm>
          <a:prstGeom xmlns:a="http://schemas.openxmlformats.org/drawingml/2006/main" prst="roundRect">
            <a:avLst>
              <a:gd name="adj" fmla="val 12500"/>
            </a:avLst>
          </a:prstGeom>
          <a:solidFill xmlns:a="http://schemas.openxmlformats.org/drawingml/2006/main">
            <a:srgbClr val="FAF4E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55FED52-6169-421D-B27A-1F84FD66A3AA}"/>
              </a:ext>
            </a:extLst>
          </p:cNvPr>
          <p:cNvSpPr>
            <a:spLocks xmlns:a="http://schemas.openxmlformats.org/drawingml/2006/main" noGrp="1"/>
          </p:cNvSpPr>
          <p:nvPr/>
        </p:nvSpPr>
        <p:spPr>
          <a:xfrm xmlns:a="http://schemas.openxmlformats.org/drawingml/2006/main">
            <a:off x="6438900" y="50196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9E3B3B"/>
                </a:solidFill>
                <a:latin typeface="Helvetica Neue"/>
                <a:ea typeface="Helvetica Neue"/>
                <a:cs typeface="Helvetica Neue"/>
              </a:defRPr>
            </a:pPr>
            <a:r>
              <a:rPr sz="1275" b="1" i="0">
                <a:solidFill>
                  <a:srgbClr val="9E3B3B"/>
                </a:solidFill>
                <a:latin typeface="Helvetica Neue"/>
                <a:ea typeface="Helvetica Neue"/>
                <a:cs typeface="Helvetica Neue"/>
              </a:rPr>
              <a:t>Separate horizon</a:t>
            </a:r>
          </a:p>
        </p:txBody>
      </p:sp>
      <p:sp>
        <p:nvSpPr>
          <p:cNvPr id="24" name="">
            <a:extLst xmlns:a="http://schemas.openxmlformats.org/drawingml/2006/main">
              <a:ext uri="{FF2B5EF4-FFF2-40B4-BE49-F238E27FC236}">
                <a16:creationId xmlns:a16="http://schemas.microsoft.com/office/drawing/2014/main" id="{F9FD1402-A1FE-482D-88BB-9E754948A494}"/>
              </a:ext>
            </a:extLst>
          </p:cNvPr>
          <p:cNvSpPr>
            <a:spLocks xmlns:a="http://schemas.openxmlformats.org/drawingml/2006/main" noGrp="1"/>
          </p:cNvSpPr>
          <p:nvPr/>
        </p:nvSpPr>
        <p:spPr>
          <a:xfrm xmlns:a="http://schemas.openxmlformats.org/drawingml/2006/main">
            <a:off x="8058150" y="4991100"/>
            <a:ext cx="31242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15"/>
          </a:bodyPr>
          <a:lstStyle xmlns:a="http://schemas.openxmlformats.org/drawingml/2006/main"/>
          <a:p xmlns:a="http://schemas.openxmlformats.org/drawingml/2006/main">
            <a:pPr algn="l">
              <a:defRPr sz="1275" b="0" i="0">
                <a:solidFill>
                  <a:srgbClr val="111827"/>
                </a:solidFill>
                <a:latin typeface="Helvetica Neue"/>
                <a:ea typeface="Helvetica Neue"/>
                <a:cs typeface="Helvetica Neue"/>
              </a:defRPr>
            </a:pPr>
            <a:r>
              <a:rPr sz="1275" b="0" i="0">
                <a:solidFill>
                  <a:srgbClr val="111827"/>
                </a:solidFill>
                <a:latin typeface="Helvetica Neue"/>
                <a:ea typeface="Helvetica Neue"/>
                <a:cs typeface="Helvetica Neue"/>
              </a:rPr>
              <a:t>A full numerical-relativity solver would be a different project, not the next shader feature.</a:t>
            </a:r>
          </a:p>
        </p:txBody>
      </p:sp>
    </p:spTree>
    <p:extLst>
      <p:ext uri="{BB962C8B-B14F-4D97-AF65-F5344CB8AC3E}">
        <p14:creationId xmlns:p14="http://schemas.microsoft.com/office/powerpoint/2010/main" val="1094019341"/>
      </p:ext>
    </p:extLst>
  </p:cSld>
</p:sld>
</file>

<file path=ppt/slides/slide13.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28a84387a3d4f3f"/>
          <a:srcRect xmlns:a="http://schemas.openxmlformats.org/drawingml/2006/main" l="0" t="0" r="0" b="0"/>
          <a:stretch xmlns:a="http://schemas.openxmlformats.org/drawingml/2006/main">
            <a:fillRect l="0" t="0" r="0" b="0"/>
          </a:stretch>
        </p:blipFill>
        <p:spPr>
          <a:xfrm xmlns:a="http://schemas.openxmlformats.org/drawingml/2006/main">
            <a:off x="6524625" y="0"/>
            <a:ext cx="56673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A6F78E-2807-406F-96EB-48B8EFD5244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E0A45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88D364-6D05-4C77-855C-9C89A6B389F9}"/>
              </a:ext>
            </a:extLst>
          </p:cNvPr>
          <p:cNvSpPr>
            <a:spLocks xmlns:a="http://schemas.openxmlformats.org/drawingml/2006/main" noGrp="1"/>
          </p:cNvSpPr>
          <p:nvPr/>
        </p:nvSpPr>
        <p:spPr>
          <a:xfrm xmlns:a="http://schemas.openxmlformats.org/drawingml/2006/main">
            <a:off x="514350" y="438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0A45A"/>
                </a:solidFill>
                <a:latin typeface="Helvetica Neue"/>
                <a:ea typeface="Helvetica Neue"/>
                <a:cs typeface="Helvetica Neue"/>
              </a:defRPr>
            </a:pPr>
            <a:r>
              <a:rPr sz="975" b="1" i="0">
                <a:solidFill>
                  <a:srgbClr val="E0A45A"/>
                </a:solidFill>
                <a:latin typeface="Helvetica Neue"/>
                <a:ea typeface="Helvetica Neue"/>
                <a:cs typeface="Helvetica Neue"/>
              </a:rPr>
              <a:t>THE SYNTHESIS</a:t>
            </a:r>
          </a:p>
        </p:txBody>
      </p:sp>
      <p:sp>
        <p:nvSpPr>
          <p:cNvPr id="4" name="">
            <a:extLst xmlns:a="http://schemas.openxmlformats.org/drawingml/2006/main">
              <a:ext uri="{FF2B5EF4-FFF2-40B4-BE49-F238E27FC236}">
                <a16:creationId xmlns:a16="http://schemas.microsoft.com/office/drawing/2014/main" id="{A958DA04-D777-464F-A875-ADE79CD56C61}"/>
              </a:ext>
            </a:extLst>
          </p:cNvPr>
          <p:cNvSpPr>
            <a:spLocks xmlns:a="http://schemas.openxmlformats.org/drawingml/2006/main" noGrp="1"/>
          </p:cNvSpPr>
          <p:nvPr/>
        </p:nvSpPr>
        <p:spPr>
          <a:xfrm xmlns:a="http://schemas.openxmlformats.org/drawingml/2006/main">
            <a:off x="514350" y="1171575"/>
            <a:ext cx="5334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75" b="1" i="0">
                <a:solidFill>
                  <a:srgbClr val="FFFFFF"/>
                </a:solidFill>
                <a:latin typeface="Helvetica Neue"/>
                <a:ea typeface="Helvetica Neue"/>
                <a:cs typeface="Helvetica Neue"/>
              </a:defRPr>
            </a:pPr>
            <a:r>
              <a:rPr sz="3675" b="1" i="0">
                <a:solidFill>
                  <a:srgbClr val="FFFFFF"/>
                </a:solidFill>
                <a:latin typeface="Helvetica Neue"/>
                <a:ea typeface="Helvetica Neue"/>
                <a:cs typeface="Helvetica Neue"/>
              </a:rPr>
              <a:t>Small codebase.</a:t>
            </a:r>
          </a:p>
          <a:p xmlns:a="http://schemas.openxmlformats.org/drawingml/2006/main">
            <a:pPr algn="l">
              <a:defRPr sz="3675" b="1" i="0">
                <a:solidFill>
                  <a:srgbClr val="FFFFFF"/>
                </a:solidFill>
                <a:latin typeface="Helvetica Neue"/>
                <a:ea typeface="Helvetica Neue"/>
                <a:cs typeface="Helvetica Neue"/>
              </a:defRPr>
            </a:pPr>
            <a:r>
              <a:rPr sz="3675" b="1" i="0">
                <a:solidFill>
                  <a:srgbClr val="FFFFFF"/>
                </a:solidFill>
                <a:latin typeface="Helvetica Neue"/>
                <a:ea typeface="Helvetica Neue"/>
                <a:cs typeface="Helvetica Neue"/>
              </a:rPr>
              <a:t>Real geodesics.</a:t>
            </a:r>
          </a:p>
          <a:p xmlns:a="http://schemas.openxmlformats.org/drawingml/2006/main">
            <a:pPr algn="l">
              <a:defRPr sz="3675" b="1" i="0">
                <a:solidFill>
                  <a:srgbClr val="FFFFFF"/>
                </a:solidFill>
                <a:latin typeface="Helvetica Neue"/>
                <a:ea typeface="Helvetica Neue"/>
                <a:cs typeface="Helvetica Neue"/>
              </a:defRPr>
            </a:pPr>
            <a:r>
              <a:rPr sz="3675" b="1" i="0">
                <a:solidFill>
                  <a:srgbClr val="FFFFFF"/>
                </a:solidFill>
                <a:latin typeface="Helvetica Neue"/>
                <a:ea typeface="Helvetica Neue"/>
                <a:cs typeface="Helvetica Neue"/>
              </a:rPr>
              <a:t>Honest boundaries.</a:t>
            </a:r>
          </a:p>
        </p:txBody>
      </p:sp>
      <p:sp>
        <p:nvSpPr>
          <p:cNvPr id="5" name="">
            <a:extLst xmlns:a="http://schemas.openxmlformats.org/drawingml/2006/main">
              <a:ext uri="{FF2B5EF4-FFF2-40B4-BE49-F238E27FC236}">
                <a16:creationId xmlns:a16="http://schemas.microsoft.com/office/drawing/2014/main" id="{549E5C55-8680-4608-B922-49892FB77F06}"/>
              </a:ext>
            </a:extLst>
          </p:cNvPr>
          <p:cNvSpPr>
            <a:spLocks xmlns:a="http://schemas.openxmlformats.org/drawingml/2006/main" noGrp="1"/>
          </p:cNvSpPr>
          <p:nvPr/>
        </p:nvSpPr>
        <p:spPr>
          <a:xfrm xmlns:a="http://schemas.openxmlformats.org/drawingml/2006/main">
            <a:off x="514350" y="3733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0A45A"/>
                </a:solidFill>
                <a:latin typeface="Helvetica Neue"/>
                <a:ea typeface="Helvetica Neue"/>
                <a:cs typeface="Helvetica Neue"/>
              </a:defRPr>
            </a:pPr>
            <a:r>
              <a:rPr sz="1350" b="1" i="0">
                <a:solidFill>
                  <a:srgbClr val="E0A45A"/>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3F515537-FAD7-40F3-84E0-6D9C13D369A0}"/>
              </a:ext>
            </a:extLst>
          </p:cNvPr>
          <p:cNvSpPr>
            <a:spLocks xmlns:a="http://schemas.openxmlformats.org/drawingml/2006/main" noGrp="1"/>
          </p:cNvSpPr>
          <p:nvPr/>
        </p:nvSpPr>
        <p:spPr>
          <a:xfrm xmlns:a="http://schemas.openxmlformats.org/drawingml/2006/main">
            <a:off x="895350" y="372427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defRPr sz="1500" b="0" i="0">
                <a:solidFill>
                  <a:srgbClr val="FFFFFF"/>
                </a:solidFill>
                <a:latin typeface="Helvetica Neue"/>
                <a:ea typeface="Helvetica Neue"/>
                <a:cs typeface="Helvetica Neue"/>
              </a:defRPr>
            </a:pPr>
            <a:r>
              <a:rPr sz="1500" b="0" i="0">
                <a:solidFill>
                  <a:srgbClr val="FFFFFF"/>
                </a:solidFill>
                <a:latin typeface="Helvetica Neue"/>
                <a:ea typeface="Helvetica Neue"/>
                <a:cs typeface="Helvetica Neue"/>
              </a:rPr>
              <a:t>The shader’s curvature equation is the scientific center of gravity.</a:t>
            </a:r>
          </a:p>
        </p:txBody>
      </p:sp>
      <p:sp>
        <p:nvSpPr>
          <p:cNvPr id="7" name="">
            <a:extLst xmlns:a="http://schemas.openxmlformats.org/drawingml/2006/main">
              <a:ext uri="{FF2B5EF4-FFF2-40B4-BE49-F238E27FC236}">
                <a16:creationId xmlns:a16="http://schemas.microsoft.com/office/drawing/2014/main" id="{AE485957-286F-499D-8221-6E15AAA9F163}"/>
              </a:ext>
            </a:extLst>
          </p:cNvPr>
          <p:cNvSpPr>
            <a:spLocks xmlns:a="http://schemas.openxmlformats.org/drawingml/2006/main" noGrp="1"/>
          </p:cNvSpPr>
          <p:nvPr/>
        </p:nvSpPr>
        <p:spPr>
          <a:xfrm xmlns:a="http://schemas.openxmlformats.org/drawingml/2006/main">
            <a:off x="514350" y="43624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0A45A"/>
                </a:solidFill>
                <a:latin typeface="Helvetica Neue"/>
                <a:ea typeface="Helvetica Neue"/>
                <a:cs typeface="Helvetica Neue"/>
              </a:defRPr>
            </a:pPr>
            <a:r>
              <a:rPr sz="1350" b="1" i="0">
                <a:solidFill>
                  <a:srgbClr val="E0A45A"/>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D5032C99-A650-4DAD-ADFE-AB79E6047285}"/>
              </a:ext>
            </a:extLst>
          </p:cNvPr>
          <p:cNvSpPr>
            <a:spLocks xmlns:a="http://schemas.openxmlformats.org/drawingml/2006/main" noGrp="1"/>
          </p:cNvSpPr>
          <p:nvPr/>
        </p:nvSpPr>
        <p:spPr>
          <a:xfrm xmlns:a="http://schemas.openxmlformats.org/drawingml/2006/main">
            <a:off x="895350" y="43529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52"/>
          </a:bodyPr>
          <a:lstStyle xmlns:a="http://schemas.openxmlformats.org/drawingml/2006/main"/>
          <a:p xmlns:a="http://schemas.openxmlformats.org/drawingml/2006/main">
            <a:pPr algn="l">
              <a:defRPr sz="1500" b="0" i="0">
                <a:solidFill>
                  <a:srgbClr val="FFFFFF"/>
                </a:solidFill>
                <a:latin typeface="Helvetica Neue"/>
                <a:ea typeface="Helvetica Neue"/>
                <a:cs typeface="Helvetica Neue"/>
              </a:defRPr>
            </a:pPr>
            <a:r>
              <a:rPr sz="1500" b="0" i="0">
                <a:solidFill>
                  <a:srgbClr val="FFFFFF"/>
                </a:solidFill>
                <a:latin typeface="Helvetica Neue"/>
                <a:ea typeface="Helvetica Neue"/>
                <a:cs typeface="Helvetica Neue"/>
              </a:rPr>
              <a:t>WebGL2 makes that math visible and interactive at pixel scale.</a:t>
            </a:r>
          </a:p>
        </p:txBody>
      </p:sp>
      <p:sp>
        <p:nvSpPr>
          <p:cNvPr id="9" name="">
            <a:extLst xmlns:a="http://schemas.openxmlformats.org/drawingml/2006/main">
              <a:ext uri="{FF2B5EF4-FFF2-40B4-BE49-F238E27FC236}">
                <a16:creationId xmlns:a16="http://schemas.microsoft.com/office/drawing/2014/main" id="{503DA6BD-CDFD-41E3-A770-DE6819BDB6C2}"/>
              </a:ext>
            </a:extLst>
          </p:cNvPr>
          <p:cNvSpPr>
            <a:spLocks xmlns:a="http://schemas.openxmlformats.org/drawingml/2006/main" noGrp="1"/>
          </p:cNvSpPr>
          <p:nvPr/>
        </p:nvSpPr>
        <p:spPr>
          <a:xfrm xmlns:a="http://schemas.openxmlformats.org/drawingml/2006/main">
            <a:off x="514350" y="49911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0A45A"/>
                </a:solidFill>
                <a:latin typeface="Helvetica Neue"/>
                <a:ea typeface="Helvetica Neue"/>
                <a:cs typeface="Helvetica Neue"/>
              </a:defRPr>
            </a:pPr>
            <a:r>
              <a:rPr sz="1350" b="1" i="0">
                <a:solidFill>
                  <a:srgbClr val="E0A45A"/>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B02406CE-4A6C-4B41-A3C5-9279B67DC15F}"/>
              </a:ext>
            </a:extLst>
          </p:cNvPr>
          <p:cNvSpPr>
            <a:spLocks xmlns:a="http://schemas.openxmlformats.org/drawingml/2006/main" noGrp="1"/>
          </p:cNvSpPr>
          <p:nvPr/>
        </p:nvSpPr>
        <p:spPr>
          <a:xfrm xmlns:a="http://schemas.openxmlformats.org/drawingml/2006/main">
            <a:off x="895350" y="498157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FFFFFF"/>
                </a:solidFill>
                <a:latin typeface="Helvetica Neue"/>
                <a:ea typeface="Helvetica Neue"/>
                <a:cs typeface="Helvetica Neue"/>
              </a:defRPr>
            </a:pPr>
            <a:r>
              <a:rPr sz="1500" b="0" i="0">
                <a:solidFill>
                  <a:srgbClr val="FFFFFF"/>
                </a:solidFill>
                <a:latin typeface="Helvetica Neue"/>
                <a:ea typeface="Helvetica Neue"/>
                <a:cs typeface="Helvetica Neue"/>
              </a:rPr>
              <a:t>The next leap is validation and light transport — not a bigger claim.</a:t>
            </a:r>
          </a:p>
        </p:txBody>
      </p:sp>
      <p:sp>
        <p:nvSpPr>
          <p:cNvPr id="11" name="">
            <a:extLst xmlns:a="http://schemas.openxmlformats.org/drawingml/2006/main">
              <a:ext uri="{FF2B5EF4-FFF2-40B4-BE49-F238E27FC236}">
                <a16:creationId xmlns:a16="http://schemas.microsoft.com/office/drawing/2014/main" id="{FB9EB0C2-0E83-4002-AFB1-2C3367175D13}"/>
              </a:ext>
            </a:extLst>
          </p:cNvPr>
          <p:cNvSpPr>
            <a:spLocks xmlns:a="http://schemas.openxmlformats.org/drawingml/2006/main" noGrp="1"/>
          </p:cNvSpPr>
          <p:nvPr/>
        </p:nvSpPr>
        <p:spPr>
          <a:xfrm xmlns:a="http://schemas.openxmlformats.org/drawingml/2006/main">
            <a:off x="514350" y="5943600"/>
            <a:ext cx="3190875" cy="323850"/>
          </a:xfrm>
          <a:prstGeom xmlns:a="http://schemas.openxmlformats.org/drawingml/2006/main" prst="roundRect">
            <a:avLst>
              <a:gd name="adj" fmla="val 47059"/>
            </a:avLst>
          </a:prstGeom>
          <a:solidFill xmlns:a="http://schemas.openxmlformats.org/drawingml/2006/main">
            <a:srgbClr val="FFFFFF"/>
          </a:solidFill>
          <a:ln xmlns:a="http://schemas.openxmlformats.org/drawingml/2006/main" w="0">
            <a:noFill/>
            <a:prstDash val="solid"/>
          </a:ln>
        </p:spPr>
        <p:txBody>
          <a:bodyPr xmlns:a="http://schemas.openxmlformats.org/drawingml/2006/main" lIns="66675" tIns="28575" rIns="66675" bIns="28575" anchor="ctr">
            <a:normAutofit fontScale="100000"/>
          </a:bodyPr>
          <a:lstStyle xmlns:a="http://schemas.openxmlformats.org/drawingml/2006/main"/>
          <a:p xmlns:a="http://schemas.openxmlformats.org/drawingml/2006/main">
            <a:pPr algn="ctr">
              <a:defRPr sz="1050" b="1">
                <a:solidFill>
                  <a:srgbClr val="111827"/>
                </a:solidFill>
                <a:latin typeface="Helvetica Neue"/>
                <a:ea typeface="Helvetica Neue"/>
                <a:cs typeface="Helvetica Neue"/>
              </a:defRPr>
            </a:pPr>
            <a:r>
              <a:rPr sz="1050" b="1">
                <a:solidFill>
                  <a:srgbClr val="111827"/>
                </a:solidFill>
                <a:latin typeface="Helvetica Neue"/>
                <a:ea typeface="Helvetica Neue"/>
                <a:cs typeface="Helvetica Neue"/>
              </a:rPr>
              <a:t>DRAG TO ORBIT · SCROLL TO ZOOM</a:t>
            </a:r>
          </a:p>
        </p:txBody>
      </p:sp>
      <p:sp>
        <p:nvSpPr>
          <p:cNvPr id="12" name="">
            <a:extLst xmlns:a="http://schemas.openxmlformats.org/drawingml/2006/main">
              <a:ext uri="{FF2B5EF4-FFF2-40B4-BE49-F238E27FC236}">
                <a16:creationId xmlns:a16="http://schemas.microsoft.com/office/drawing/2014/main" id="{1E99BC6E-DB72-4D57-84AB-EA5475F4DB19}"/>
              </a:ext>
            </a:extLst>
          </p:cNvPr>
          <p:cNvSpPr>
            <a:spLocks xmlns:a="http://schemas.openxmlformats.org/drawingml/2006/main" noGrp="1"/>
          </p:cNvSpPr>
          <p:nvPr/>
        </p:nvSpPr>
        <p:spPr>
          <a:xfrm xmlns:a="http://schemas.openxmlformats.org/drawingml/2006/main">
            <a:off x="5753100" y="63055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FFFFFF"/>
                </a:solidFill>
                <a:latin typeface="Helvetica Neue"/>
                <a:ea typeface="Helvetica Neue"/>
                <a:cs typeface="Helvetica Neue"/>
              </a:defRPr>
            </a:pPr>
            <a:r>
              <a:rPr sz="975" b="0" i="0">
                <a:solidFill>
                  <a:srgbClr val="FFFFFF"/>
                </a:solidFill>
                <a:latin typeface="Helvetica Neue"/>
                <a:ea typeface="Helvetica Neue"/>
                <a:cs typeface="Helvetica Neue"/>
              </a:rPr>
              <a:t>13</a:t>
            </a:r>
          </a:p>
        </p:txBody>
      </p:sp>
    </p:spTree>
    <p:extLst>
      <p:ext uri="{BB962C8B-B14F-4D97-AF65-F5344CB8AC3E}">
        <p14:creationId xmlns:p14="http://schemas.microsoft.com/office/powerpoint/2010/main" val="17116647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2026-07-31T21:56:49.9500000Z</dcterms:created>
  <dcterms:modified xsi:type="dcterms:W3CDTF">2026-07-31T21:56:49.9500000Z</dcterms:modified>
</coreProperties>
</file>